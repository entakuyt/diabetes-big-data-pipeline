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Masters/slideMaster1.xml" ContentType="application/vnd.openxmlformats-officedocument.presentationml.slideMaster+xml"/>
  <Override PartName="/ppt/notesSlides/notesSlide5.xml" ContentType="application/vnd.openxmlformats-officedocument.presentationml.notesSlide+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3" d="100"/>
          <a:sy n="143" d="100"/>
        </p:scale>
        <p:origin x="68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18" Type="http://schemas.openxmlformats.org/officeDocument/2006/relationships/customXml" Target="../customXml/item3.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800" b="0" i="0" u="none" strike="noStrike">
                <a:solidFill>
                  <a:srgbClr val="000000"/>
                </a:solidFill>
                <a:latin typeface="Arial"/>
              </a:defRPr>
            </a:pPr>
            <a:r>
              <a:rPr lang="en-US" sz="1800" b="0" i="0" u="none" strike="noStrike">
                <a:solidFill>
                  <a:srgbClr val="000000"/>
                </a:solidFill>
                <a:latin typeface="Arial"/>
              </a:rPr>
              <a:t>Avg Age &amp; BMI by Diabetes Status</a:t>
            </a:r>
          </a:p>
        </c:rich>
      </c:tx>
      <c:overlay val="0"/>
    </c:title>
    <c:autoTitleDeleted val="0"/>
    <c:plotArea>
      <c:layout/>
      <c:barChart>
        <c:barDir val="col"/>
        <c:grouping val="clustered"/>
        <c:varyColors val="0"/>
        <c:ser>
          <c:idx val="0"/>
          <c:order val="0"/>
          <c:tx>
            <c:strRef>
              <c:f>Sheet1!$B$1</c:f>
              <c:strCache>
                <c:ptCount val="1"/>
                <c:pt idx="0">
                  <c:v>Avg Age</c:v>
                </c:pt>
              </c:strCache>
            </c:strRef>
          </c:tx>
          <c:spPr>
            <a:solidFill>
              <a:srgbClr val="028090"/>
            </a:solidFill>
            <a:effectLst/>
          </c:spPr>
          <c:invertIfNegative val="0"/>
          <c:dLbls>
            <c:numFmt formatCode="#,##0" sourceLinked="0"/>
            <c:spPr>
              <a:noFill/>
              <a:ln>
                <a:noFill/>
              </a:ln>
              <a:effectLst/>
            </c:spPr>
            <c:txPr>
              <a:bodyPr/>
              <a:lstStyle/>
              <a:p>
                <a:pPr>
                  <a:defRPr sz="12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No Diabetes</c:v>
                </c:pt>
                <c:pt idx="1">
                  <c:v>Diabetes</c:v>
                </c:pt>
              </c:strCache>
            </c:strRef>
          </c:cat>
          <c:val>
            <c:numRef>
              <c:f>Sheet1!$B$2:$B$3</c:f>
              <c:numCache>
                <c:formatCode>General</c:formatCode>
                <c:ptCount val="2"/>
                <c:pt idx="0">
                  <c:v>40.1</c:v>
                </c:pt>
                <c:pt idx="1">
                  <c:v>60.9</c:v>
                </c:pt>
              </c:numCache>
            </c:numRef>
          </c:val>
          <c:extLst>
            <c:ext xmlns:c16="http://schemas.microsoft.com/office/drawing/2014/chart" uri="{C3380CC4-5D6E-409C-BE32-E72D297353CC}">
              <c16:uniqueId val="{00000000-EB3A-4749-94D9-81606C81F92E}"/>
            </c:ext>
          </c:extLst>
        </c:ser>
        <c:ser>
          <c:idx val="1"/>
          <c:order val="1"/>
          <c:tx>
            <c:strRef>
              <c:f>Sheet1!$C$1</c:f>
              <c:strCache>
                <c:ptCount val="1"/>
                <c:pt idx="0">
                  <c:v>Avg BMI</c:v>
                </c:pt>
              </c:strCache>
            </c:strRef>
          </c:tx>
          <c:spPr>
            <a:solidFill>
              <a:srgbClr val="F96167"/>
            </a:solidFill>
            <a:effectLst/>
          </c:spPr>
          <c:invertIfNegative val="0"/>
          <c:dLbls>
            <c:numFmt formatCode="#,##0" sourceLinked="0"/>
            <c:spPr>
              <a:noFill/>
              <a:ln>
                <a:noFill/>
              </a:ln>
              <a:effectLst/>
            </c:spPr>
            <c:txPr>
              <a:bodyPr/>
              <a:lstStyle/>
              <a:p>
                <a:pPr>
                  <a:defRPr sz="12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No Diabetes</c:v>
                </c:pt>
                <c:pt idx="1">
                  <c:v>Diabetes</c:v>
                </c:pt>
              </c:strCache>
            </c:strRef>
          </c:cat>
          <c:val>
            <c:numRef>
              <c:f>Sheet1!$C$2:$C$3</c:f>
              <c:numCache>
                <c:formatCode>General</c:formatCode>
                <c:ptCount val="2"/>
                <c:pt idx="0">
                  <c:v>26.9</c:v>
                </c:pt>
                <c:pt idx="1">
                  <c:v>32</c:v>
                </c:pt>
              </c:numCache>
            </c:numRef>
          </c:val>
          <c:extLst>
            <c:ext xmlns:c16="http://schemas.microsoft.com/office/drawing/2014/chart" uri="{C3380CC4-5D6E-409C-BE32-E72D297353CC}">
              <c16:uniqueId val="{00000001-EB3A-4749-94D9-81606C81F92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800" b="0" i="0" u="none" strike="noStrike">
                <a:solidFill>
                  <a:srgbClr val="000000"/>
                </a:solidFill>
                <a:latin typeface="Arial"/>
              </a:defRPr>
            </a:pPr>
            <a:r>
              <a:rPr lang="en-US" sz="1800" b="0" i="0" u="none" strike="noStrike">
                <a:solidFill>
                  <a:srgbClr val="000000"/>
                </a:solidFill>
                <a:latin typeface="Arial"/>
              </a:rPr>
              <a:t>Avg Blood Glucose Level</a:t>
            </a:r>
          </a:p>
        </c:rich>
      </c:tx>
      <c:overlay val="0"/>
    </c:title>
    <c:autoTitleDeleted val="0"/>
    <c:plotArea>
      <c:layout/>
      <c:barChart>
        <c:barDir val="col"/>
        <c:grouping val="clustered"/>
        <c:varyColors val="0"/>
        <c:ser>
          <c:idx val="0"/>
          <c:order val="0"/>
          <c:tx>
            <c:strRef>
              <c:f>Sheet1!$B$1</c:f>
              <c:strCache>
                <c:ptCount val="1"/>
                <c:pt idx="0">
                  <c:v>Avg Glucose</c:v>
                </c:pt>
              </c:strCache>
            </c:strRef>
          </c:tx>
          <c:spPr>
            <a:solidFill>
              <a:srgbClr val="02C39A"/>
            </a:solidFill>
            <a:effectLst/>
          </c:spPr>
          <c:invertIfNegative val="0"/>
          <c:dLbls>
            <c:numFmt formatCode="#,##0" sourceLinked="0"/>
            <c:spPr>
              <a:noFill/>
              <a:ln>
                <a:noFill/>
              </a:ln>
              <a:effectLst/>
            </c:spPr>
            <c:txPr>
              <a:bodyPr/>
              <a:lstStyle/>
              <a:p>
                <a:pPr>
                  <a:defRPr sz="12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No Diabetes</c:v>
                </c:pt>
                <c:pt idx="1">
                  <c:v>Diabetes</c:v>
                </c:pt>
              </c:strCache>
            </c:strRef>
          </c:cat>
          <c:val>
            <c:numRef>
              <c:f>Sheet1!$B$2:$B$3</c:f>
              <c:numCache>
                <c:formatCode>General</c:formatCode>
                <c:ptCount val="2"/>
                <c:pt idx="0">
                  <c:v>132.9</c:v>
                </c:pt>
                <c:pt idx="1">
                  <c:v>194.1</c:v>
                </c:pt>
              </c:numCache>
            </c:numRef>
          </c:val>
          <c:extLst>
            <c:ext xmlns:c16="http://schemas.microsoft.com/office/drawing/2014/chart" uri="{C3380CC4-5D6E-409C-BE32-E72D297353CC}">
              <c16:uniqueId val="{00000000-DD7E-43EC-A2F7-0CA97FFB995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0406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My name is Tuo, and I'm here today with my teammates Prayusha and Dan.
Our project is called the Diabetes Big Data Pipeline, where we use two powerful tools — Apache Spark and MongoDB — to analyze a large healthcare dataset about diabetes.
Let's get started.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is this project about?
We chose the Diabetes Healthcare Dataset, which contains medical records for 100,000 patients.
Each record has 16 features — things like age, BMI, blood glucose level, location, and smoking history — and most importantly, whether the patient has diabetes or not.
Why this dataset? Because it's large, realistic, and directly connected to healthcare.
By analyzing it, we can find patterns that might help doctors identify high-risk patients early — which is a real-world problem worth solving.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me walk you through how our system works — the full pipeline from data to results.
Step one: We start with a raw CSV file containing 100,000 records.
Step two: We load this data into MongoDB, a NoSQL database, which is great for storing flexible, document-style data.
Step three: We pull the data from MongoDB into Apache Spark, where we clean it and turn it into a Spark DataFrame — a distributed data structure that can handle millions of rows efficiently.
Step four: We run SQL queries and window functions on the data to find patterns.
Step five: We visualize our results as charts, and we also save the cleaned data to Parquet format for fast reuse.
The entire tech stack includes Python, PySpark 4.1, MongoDB, Pandas, and Seaborn.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about how we actually got the data in and cleaned it up.
For ingestion, we used Pandas to load the CSV file, then connected to a local MongoDB instance.
Before inserting, we cleared any old records to avoid duplicates, and inserted all 100,000 rows using insert_many(). We then verified the count in the database.
For cleaning in Spark, we removed rows where age or BMI was missing.
We also converted data types — for example, casting age to integer and blood glucose to double — so that Spark can process them correctly.
After cleaning, the dataset still had the full 100,000 records.
Among them, 8,500 patients — or 8.5% — have diabetes, and the remaining 91,500 do not.
We also cached the DataFrame in memory and saved it to Parquet format, which made later operations much faster.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for the analysis. We registered our cleaned DataFrame as a SQL view, which let us write standard SQL queries on it.
Query 1 looked at diabetes rates by location.
We grouped patients by state, calculated the average BMI and the percentage of diabetic patients.
The top three locations with the highest diabetes rates were:
Delaware at 9.82%, Kansas at 9.77%, and Illinois at 9.58%.
Query 2 broke patients down by age group using a CASE statement.
The results are very clear:
- Patients under 30 have only a 0.84% diabetes rate.
- The 30 to 49 group has 5.19%.
- The 50 to 64 group jumps to 14%.
- And patients 65 and older have a 20.45% rate — that's about 1 in 5 people.
This strongly shows that age is a major risk factor for diabetes.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used two more advanced techniques.
First, a window function. We partitioned the data by gender, then ranked patients by blood glucose level in descending order.
The key finding: the patients with the highest glucose levels — 300 or above — all had diabetes.
This confirms that high blood glucose is a strong indicator of diabetes.
Second, we ran a MongoDB index benchmark.
We queried for patients in Alabama — that's 2,036 records — first without an index, then with an index on the location field.
The results: without index it took 0.0221 seconds, and with the index it took 0.0203 seconds — about 1.1 times faster.
The speedup is small here because our dataset fits entirely in memory.
In a real production system with millions of records, the improvement would be much more significant.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visualizations make the differences between diabetic and non-diabetic patients very clear.
Looking at the left chart — average age and BMI:
- Non-diabetic patients have an average age of 40, while diabetic patients average 61 years old — that's 20 years older.
- Average BMI is also higher in diabetic patients: 32 versus 27.
On the right chart — blood glucose level:
- Non-diabetic patients average 133, while diabetic patients average 194 — nearly 50% higher.
So to summarize the key insight from our analysis:
Older age, higher BMI, and elevated blood glucose are the three strongest predictors of diabetes in this dataset.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here is what our project accomplished:
We successfully built a complete end-to-end Big Data pipeline — from a raw CSV file all the way to MongoDB, Spark processing, and Parquet storage.
We analyzed 100,000 patient records using Spark SQL and discovered clear patterns in how age, BMI, and glucose relate to diabetes.
Our window function confirmed that extremely high glucose levels always indicate diabetes.
And we showed that Parquet format and DataFrame caching are practical ways to improve performance in a big data environment.
Thank you very much for listening. We are happy to answer any questions.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CD3C7-30C8-AEF7-63D3-9B301E8A64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739C0D-79B3-9812-08E4-E674376527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CB028D-A5F8-65F6-E2C3-56826C1897D3}"/>
              </a:ext>
            </a:extLst>
          </p:cNvPr>
          <p:cNvSpPr>
            <a:spLocks noGrp="1"/>
          </p:cNvSpPr>
          <p:nvPr>
            <p:ph type="body" idx="1"/>
          </p:nvPr>
        </p:nvSpPr>
        <p:spPr/>
        <p:txBody>
          <a:bodyPr/>
          <a:lstStyle/>
          <a:p>
            <a:r>
              <a:rPr lang="en-US" dirty="0"/>
              <a:t>To wrap up, here is what our project accomplished:
We successfully built a complete end-to-end Big Data pipeline — from a raw CSV file all the way to MongoDB, Spark processing, and Parquet storage.
We analyzed 100,000 patient records using Spark SQL and discovered clear patterns in how age, BMI, and glucose relate to diabetes.
Our window function confirmed that extremely high glucose levels always indicate diabetes.
And we showed that Parquet format and DataFrame caching are practical ways to improve performance in a big data environment.
Thank you very much for listening. We are happy to answer any questions.</a:t>
            </a:r>
          </a:p>
        </p:txBody>
      </p:sp>
      <p:sp>
        <p:nvSpPr>
          <p:cNvPr id="4" name="Slide Number Placeholder 3">
            <a:extLst>
              <a:ext uri="{FF2B5EF4-FFF2-40B4-BE49-F238E27FC236}">
                <a16:creationId xmlns:a16="http://schemas.microsoft.com/office/drawing/2014/main" id="{EFB1CE1D-75D3-E3D9-6480-DEDA0B002B6B}"/>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3775604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28090"/>
          </a:solidFill>
          <a:ln w="12700">
            <a:solidFill>
              <a:srgbClr val="028090"/>
            </a:solidFill>
            <a:prstDash val="solid"/>
          </a:ln>
        </p:spPr>
        <p:txBody>
          <a:bodyPr/>
          <a:lstStyle/>
          <a:p>
            <a:endParaRPr lang="en-US"/>
          </a:p>
        </p:txBody>
      </p:sp>
      <p:sp>
        <p:nvSpPr>
          <p:cNvPr id="3" name="Shape 1"/>
          <p:cNvSpPr/>
          <p:nvPr/>
        </p:nvSpPr>
        <p:spPr>
          <a:xfrm>
            <a:off x="164592" y="0"/>
            <a:ext cx="8979408" cy="73152"/>
          </a:xfrm>
          <a:prstGeom prst="rect">
            <a:avLst/>
          </a:prstGeom>
          <a:solidFill>
            <a:srgbClr val="02C39A"/>
          </a:solidFill>
          <a:ln w="12700">
            <a:solidFill>
              <a:srgbClr val="02C39A"/>
            </a:solidFill>
            <a:prstDash val="solid"/>
          </a:ln>
        </p:spPr>
        <p:txBody>
          <a:bodyPr/>
          <a:lstStyle/>
          <a:p>
            <a:endParaRPr lang="en-US"/>
          </a:p>
        </p:txBody>
      </p:sp>
      <p:sp>
        <p:nvSpPr>
          <p:cNvPr id="4" name="Shape 2"/>
          <p:cNvSpPr/>
          <p:nvPr/>
        </p:nvSpPr>
        <p:spPr>
          <a:xfrm>
            <a:off x="7132320" y="-914400"/>
            <a:ext cx="3200400" cy="3200400"/>
          </a:xfrm>
          <a:prstGeom prst="ellipse">
            <a:avLst/>
          </a:prstGeom>
          <a:solidFill>
            <a:srgbClr val="028090">
              <a:alpha val="20000"/>
            </a:srgbClr>
          </a:solidFill>
          <a:ln w="12700">
            <a:solidFill>
              <a:srgbClr val="028090">
                <a:alpha val="20000"/>
              </a:srgbClr>
            </a:solidFill>
            <a:prstDash val="solid"/>
          </a:ln>
        </p:spPr>
        <p:txBody>
          <a:bodyPr/>
          <a:lstStyle/>
          <a:p>
            <a:endParaRPr lang="en-US"/>
          </a:p>
        </p:txBody>
      </p:sp>
      <p:sp>
        <p:nvSpPr>
          <p:cNvPr id="5" name="Shape 3"/>
          <p:cNvSpPr/>
          <p:nvPr/>
        </p:nvSpPr>
        <p:spPr>
          <a:xfrm>
            <a:off x="7589520" y="-457200"/>
            <a:ext cx="2286000" cy="2286000"/>
          </a:xfrm>
          <a:prstGeom prst="ellipse">
            <a:avLst/>
          </a:prstGeom>
          <a:solidFill>
            <a:srgbClr val="02C39A">
              <a:alpha val="15000"/>
            </a:srgbClr>
          </a:solidFill>
          <a:ln w="12700">
            <a:solidFill>
              <a:srgbClr val="02C39A">
                <a:alpha val="15000"/>
              </a:srgbClr>
            </a:solidFill>
            <a:prstDash val="solid"/>
          </a:ln>
        </p:spPr>
        <p:txBody>
          <a:bodyPr/>
          <a:lstStyle/>
          <a:p>
            <a:endParaRPr lang="en-US"/>
          </a:p>
        </p:txBody>
      </p:sp>
      <p:sp>
        <p:nvSpPr>
          <p:cNvPr id="6" name="Text 4"/>
          <p:cNvSpPr/>
          <p:nvPr/>
        </p:nvSpPr>
        <p:spPr>
          <a:xfrm>
            <a:off x="457200" y="1097280"/>
            <a:ext cx="7772400" cy="100584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Diabetes Big Data Pipeline</a:t>
            </a:r>
            <a:endParaRPr lang="en-US" sz="3800" dirty="0"/>
          </a:p>
        </p:txBody>
      </p:sp>
      <p:sp>
        <p:nvSpPr>
          <p:cNvPr id="7" name="Text 5"/>
          <p:cNvSpPr/>
          <p:nvPr/>
        </p:nvSpPr>
        <p:spPr>
          <a:xfrm>
            <a:off x="457200" y="2148840"/>
            <a:ext cx="7315200" cy="502920"/>
          </a:xfrm>
          <a:prstGeom prst="rect">
            <a:avLst/>
          </a:prstGeom>
          <a:noFill/>
          <a:ln/>
        </p:spPr>
        <p:txBody>
          <a:bodyPr wrap="square" lIns="0" tIns="0" rIns="0" bIns="0" rtlCol="0" anchor="ctr"/>
          <a:lstStyle/>
          <a:p>
            <a:pPr marL="0" indent="0">
              <a:buNone/>
            </a:pPr>
            <a:r>
              <a:rPr lang="en-US" sz="1800" i="1" dirty="0">
                <a:solidFill>
                  <a:srgbClr val="02C39A"/>
                </a:solidFill>
                <a:latin typeface="Calibri" pitchFamily="34" charset="0"/>
                <a:ea typeface="Calibri" pitchFamily="34" charset="-122"/>
                <a:cs typeface="Calibri" pitchFamily="34" charset="-120"/>
              </a:rPr>
              <a:t>Spark + MongoDB | Big Data Analysis Project</a:t>
            </a:r>
            <a:endParaRPr lang="en-US" sz="1800" dirty="0"/>
          </a:p>
        </p:txBody>
      </p:sp>
      <p:sp>
        <p:nvSpPr>
          <p:cNvPr id="8" name="Shape 6"/>
          <p:cNvSpPr/>
          <p:nvPr/>
        </p:nvSpPr>
        <p:spPr>
          <a:xfrm>
            <a:off x="457200" y="2724912"/>
            <a:ext cx="3200400" cy="36576"/>
          </a:xfrm>
          <a:prstGeom prst="rect">
            <a:avLst/>
          </a:prstGeom>
          <a:solidFill>
            <a:srgbClr val="00A896"/>
          </a:solidFill>
          <a:ln w="12700">
            <a:solidFill>
              <a:srgbClr val="00A896"/>
            </a:solidFill>
            <a:prstDash val="solid"/>
          </a:ln>
        </p:spPr>
        <p:txBody>
          <a:bodyPr/>
          <a:lstStyle/>
          <a:p>
            <a:endParaRPr lang="en-US"/>
          </a:p>
        </p:txBody>
      </p:sp>
      <p:sp>
        <p:nvSpPr>
          <p:cNvPr id="9" name="Text 7"/>
          <p:cNvSpPr/>
          <p:nvPr/>
        </p:nvSpPr>
        <p:spPr>
          <a:xfrm>
            <a:off x="457200" y="2926080"/>
            <a:ext cx="2743200" cy="365760"/>
          </a:xfrm>
          <a:prstGeom prst="rect">
            <a:avLst/>
          </a:prstGeom>
          <a:noFill/>
          <a:ln/>
        </p:spPr>
        <p:txBody>
          <a:bodyPr wrap="square" lIns="0" tIns="0" rIns="0" bIns="0" rtlCol="0" anchor="ctr"/>
          <a:lstStyle/>
          <a:p>
            <a:pPr marL="0" indent="0">
              <a:buNone/>
            </a:pPr>
            <a:r>
              <a:rPr lang="en-US" sz="1500" b="1" dirty="0">
                <a:solidFill>
                  <a:srgbClr val="F9C74F"/>
                </a:solidFill>
                <a:latin typeface="Calibri" pitchFamily="34" charset="0"/>
                <a:ea typeface="Calibri" pitchFamily="34" charset="-122"/>
                <a:cs typeface="Calibri" pitchFamily="34" charset="-120"/>
              </a:rPr>
              <a:t>Group 11</a:t>
            </a:r>
            <a:endParaRPr lang="en-US" sz="1500" dirty="0"/>
          </a:p>
        </p:txBody>
      </p:sp>
      <p:sp>
        <p:nvSpPr>
          <p:cNvPr id="10" name="Text 8"/>
          <p:cNvSpPr/>
          <p:nvPr/>
        </p:nvSpPr>
        <p:spPr>
          <a:xfrm>
            <a:off x="457200" y="3337560"/>
            <a:ext cx="5486400" cy="320040"/>
          </a:xfrm>
          <a:prstGeom prst="rect">
            <a:avLst/>
          </a:prstGeom>
          <a:noFill/>
          <a:ln/>
        </p:spPr>
        <p:txBody>
          <a:bodyPr wrap="square" lIns="0" tIns="0" rIns="0" bIns="0" rtlCol="0" anchor="ctr"/>
          <a:lstStyle/>
          <a:p>
            <a:pPr marL="0" indent="0">
              <a:buNone/>
            </a:pPr>
            <a:r>
              <a:rPr lang="en-US" sz="1300" dirty="0">
                <a:solidFill>
                  <a:srgbClr val="F0F9FA"/>
                </a:solidFill>
                <a:latin typeface="Calibri" pitchFamily="34" charset="0"/>
                <a:ea typeface="Calibri" pitchFamily="34" charset="-122"/>
                <a:cs typeface="Calibri" pitchFamily="34" charset="-120"/>
              </a:rPr>
              <a:t>Tuo Yan  •  Prayusha Poudel  •  Dan Le</a:t>
            </a:r>
            <a:endParaRPr lang="en-US" sz="1300" dirty="0"/>
          </a:p>
        </p:txBody>
      </p:sp>
      <p:sp>
        <p:nvSpPr>
          <p:cNvPr id="11" name="Shape 9"/>
          <p:cNvSpPr/>
          <p:nvPr/>
        </p:nvSpPr>
        <p:spPr>
          <a:xfrm>
            <a:off x="0" y="4846320"/>
            <a:ext cx="9144000" cy="297180"/>
          </a:xfrm>
          <a:prstGeom prst="rect">
            <a:avLst/>
          </a:prstGeom>
          <a:solidFill>
            <a:srgbClr val="028090">
              <a:alpha val="40000"/>
            </a:srgbClr>
          </a:solidFill>
          <a:ln w="12700">
            <a:solidFill>
              <a:srgbClr val="028090">
                <a:alpha val="40000"/>
              </a:srgbClr>
            </a:solidFill>
            <a:prstDash val="solid"/>
          </a:ln>
        </p:spPr>
        <p:txBody>
          <a:bodyPr/>
          <a:lstStyle/>
          <a:p>
            <a:endParaRPr lang="en-US"/>
          </a:p>
        </p:txBody>
      </p:sp>
      <p:sp>
        <p:nvSpPr>
          <p:cNvPr id="12" name="Text 10"/>
          <p:cNvSpPr/>
          <p:nvPr/>
        </p:nvSpPr>
        <p:spPr>
          <a:xfrm>
            <a:off x="274320" y="4846320"/>
            <a:ext cx="8229600" cy="297180"/>
          </a:xfrm>
          <a:prstGeom prst="rect">
            <a:avLst/>
          </a:prstGeom>
          <a:noFill/>
          <a:ln/>
        </p:spPr>
        <p:txBody>
          <a:bodyPr wrap="square" lIns="0" tIns="0" rIns="0" bIns="0" rtlCol="0" anchor="ctr"/>
          <a:lstStyle/>
          <a:p>
            <a:pPr marL="0" indent="0" algn="ctr">
              <a:buNone/>
            </a:pPr>
            <a:r>
              <a:rPr lang="en-US" sz="1000" dirty="0">
                <a:solidFill>
                  <a:srgbClr val="F0F9FA"/>
                </a:solidFill>
                <a:latin typeface="Calibri" pitchFamily="34" charset="0"/>
                <a:ea typeface="Calibri" pitchFamily="34" charset="-122"/>
                <a:cs typeface="Calibri" pitchFamily="34" charset="-120"/>
              </a:rPr>
              <a:t>Healthcare Data Analysis  |  Apache Spark  |  MongoDB</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365760" y="0"/>
            <a:ext cx="8229600" cy="82296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Project Overview</a:t>
            </a:r>
            <a:endParaRPr lang="en-US" sz="2600" dirty="0"/>
          </a:p>
        </p:txBody>
      </p:sp>
      <p:sp>
        <p:nvSpPr>
          <p:cNvPr id="4" name="Shape 2"/>
          <p:cNvSpPr/>
          <p:nvPr/>
        </p:nvSpPr>
        <p:spPr>
          <a:xfrm>
            <a:off x="274320" y="1005840"/>
            <a:ext cx="4023360" cy="3566160"/>
          </a:xfrm>
          <a:prstGeom prst="rect">
            <a:avLst/>
          </a:prstGeom>
          <a:solidFill>
            <a:srgbClr val="FFFFFF"/>
          </a:solidFill>
          <a:ln w="12700">
            <a:solidFill>
              <a:srgbClr val="D0E8EC"/>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274320" y="1005840"/>
            <a:ext cx="4023360" cy="411480"/>
          </a:xfrm>
          <a:prstGeom prst="rect">
            <a:avLst/>
          </a:prstGeom>
          <a:solidFill>
            <a:srgbClr val="00A896"/>
          </a:solidFill>
          <a:ln w="12700">
            <a:solidFill>
              <a:srgbClr val="00A896"/>
            </a:solidFill>
            <a:prstDash val="solid"/>
          </a:ln>
        </p:spPr>
        <p:txBody>
          <a:bodyPr/>
          <a:lstStyle/>
          <a:p>
            <a:endParaRPr lang="en-US"/>
          </a:p>
        </p:txBody>
      </p:sp>
      <p:sp>
        <p:nvSpPr>
          <p:cNvPr id="6" name="Text 4"/>
          <p:cNvSpPr/>
          <p:nvPr/>
        </p:nvSpPr>
        <p:spPr>
          <a:xfrm>
            <a:off x="320040" y="1005840"/>
            <a:ext cx="3931920" cy="411480"/>
          </a:xfrm>
          <a:prstGeom prst="rect">
            <a:avLst/>
          </a:prstGeom>
          <a:noFill/>
          <a:ln/>
        </p:spPr>
        <p:txBody>
          <a:bodyPr wrap="square" lIns="63500" tIns="63500" rIns="63500" bIns="6350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Dataset</a:t>
            </a:r>
            <a:endParaRPr lang="en-US" sz="1400" dirty="0"/>
          </a:p>
        </p:txBody>
      </p:sp>
      <p:sp>
        <p:nvSpPr>
          <p:cNvPr id="7" name="Text 5"/>
          <p:cNvSpPr/>
          <p:nvPr/>
        </p:nvSpPr>
        <p:spPr>
          <a:xfrm>
            <a:off x="411480" y="1508760"/>
            <a:ext cx="3749040" cy="292608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Diabetes Healthcare Dataset</a:t>
            </a:r>
            <a:endParaRPr lang="en-US" sz="1300" dirty="0"/>
          </a:p>
          <a:p>
            <a:pPr marL="0" indent="0">
              <a:buNone/>
            </a:pPr>
            <a:r>
              <a:rPr lang="en-US" sz="600" dirty="0">
                <a:solidFill>
                  <a:srgbClr val="1A1A2E"/>
                </a:solidFill>
                <a:latin typeface="Calibri" pitchFamily="34" charset="0"/>
                <a:ea typeface="Calibri" pitchFamily="34" charset="-122"/>
                <a:cs typeface="Calibri" pitchFamily="34" charset="-120"/>
              </a:rPr>
              <a:t>
</a:t>
            </a:r>
            <a:endParaRPr lang="en-US" sz="1300" dirty="0"/>
          </a:p>
          <a:p>
            <a:pPr marL="342900" indent="-342900">
              <a:buSzPct val="100000"/>
              <a:buChar char="•"/>
            </a:pPr>
            <a:r>
              <a:rPr lang="en-US" sz="1300" dirty="0">
                <a:solidFill>
                  <a:srgbClr val="1A1A2E"/>
                </a:solidFill>
                <a:latin typeface="Calibri" pitchFamily="34" charset="0"/>
                <a:ea typeface="Calibri" pitchFamily="34" charset="-122"/>
                <a:cs typeface="Calibri" pitchFamily="34" charset="-120"/>
              </a:rPr>
              <a:t>100,000 patient records</a:t>
            </a:r>
            <a:endParaRPr lang="en-US" sz="1300" dirty="0"/>
          </a:p>
          <a:p>
            <a:pPr marL="342900" indent="-342900">
              <a:buSzPct val="100000"/>
              <a:buChar char="•"/>
            </a:pPr>
            <a:r>
              <a:rPr lang="en-US" sz="1300" dirty="0">
                <a:solidFill>
                  <a:srgbClr val="1A1A2E"/>
                </a:solidFill>
                <a:latin typeface="Calibri" pitchFamily="34" charset="0"/>
                <a:ea typeface="Calibri" pitchFamily="34" charset="-122"/>
                <a:cs typeface="Calibri" pitchFamily="34" charset="-120"/>
              </a:rPr>
              <a:t>16 features per record</a:t>
            </a:r>
            <a:endParaRPr lang="en-US" sz="1300" dirty="0"/>
          </a:p>
          <a:p>
            <a:pPr marL="342900" indent="-342900">
              <a:buSzPct val="100000"/>
              <a:buChar char="•"/>
            </a:pPr>
            <a:r>
              <a:rPr lang="en-US" sz="1300" dirty="0">
                <a:solidFill>
                  <a:srgbClr val="1A1A2E"/>
                </a:solidFill>
                <a:latin typeface="Calibri" pitchFamily="34" charset="0"/>
                <a:ea typeface="Calibri" pitchFamily="34" charset="-122"/>
                <a:cs typeface="Calibri" pitchFamily="34" charset="-120"/>
              </a:rPr>
              <a:t>Age, BMI, glucose level</a:t>
            </a:r>
            <a:endParaRPr lang="en-US" sz="1300" dirty="0"/>
          </a:p>
          <a:p>
            <a:pPr marL="342900" indent="-342900">
              <a:buSzPct val="100000"/>
              <a:buChar char="•"/>
            </a:pPr>
            <a:r>
              <a:rPr lang="en-US" sz="1300" dirty="0">
                <a:solidFill>
                  <a:srgbClr val="1A1A2E"/>
                </a:solidFill>
                <a:latin typeface="Calibri" pitchFamily="34" charset="0"/>
                <a:ea typeface="Calibri" pitchFamily="34" charset="-122"/>
                <a:cs typeface="Calibri" pitchFamily="34" charset="-120"/>
              </a:rPr>
              <a:t>Location, smoking history</a:t>
            </a:r>
            <a:endParaRPr lang="en-US" sz="1300" dirty="0"/>
          </a:p>
          <a:p>
            <a:pPr marL="342900" indent="-342900">
              <a:buSzPct val="100000"/>
              <a:buChar char="•"/>
            </a:pPr>
            <a:r>
              <a:rPr lang="en-US" sz="1300" dirty="0">
                <a:solidFill>
                  <a:srgbClr val="1A1A2E"/>
                </a:solidFill>
                <a:latin typeface="Calibri" pitchFamily="34" charset="0"/>
                <a:ea typeface="Calibri" pitchFamily="34" charset="-122"/>
                <a:cs typeface="Calibri" pitchFamily="34" charset="-120"/>
              </a:rPr>
              <a:t>Diabetes status (target)</a:t>
            </a:r>
            <a:endParaRPr lang="en-US" sz="1300" dirty="0"/>
          </a:p>
        </p:txBody>
      </p:sp>
      <p:sp>
        <p:nvSpPr>
          <p:cNvPr id="8" name="Shape 6"/>
          <p:cNvSpPr/>
          <p:nvPr/>
        </p:nvSpPr>
        <p:spPr>
          <a:xfrm>
            <a:off x="4846320" y="1005840"/>
            <a:ext cx="4023360" cy="3566160"/>
          </a:xfrm>
          <a:prstGeom prst="rect">
            <a:avLst/>
          </a:prstGeom>
          <a:solidFill>
            <a:srgbClr val="FFFFFF"/>
          </a:solidFill>
          <a:ln w="12700">
            <a:solidFill>
              <a:srgbClr val="D0E8EC"/>
            </a:solidFill>
            <a:prstDash val="solid"/>
          </a:ln>
          <a:effectLst>
            <a:outerShdw blurRad="101600" dist="38100" dir="8100000" algn="bl" rotWithShape="0">
              <a:srgbClr val="000000">
                <a:alpha val="12000"/>
              </a:srgbClr>
            </a:outerShdw>
          </a:effectLst>
        </p:spPr>
        <p:txBody>
          <a:bodyPr/>
          <a:lstStyle/>
          <a:p>
            <a:endParaRPr lang="en-US"/>
          </a:p>
        </p:txBody>
      </p:sp>
      <p:sp>
        <p:nvSpPr>
          <p:cNvPr id="9" name="Shape 7"/>
          <p:cNvSpPr/>
          <p:nvPr/>
        </p:nvSpPr>
        <p:spPr>
          <a:xfrm>
            <a:off x="4846320" y="1005840"/>
            <a:ext cx="4023360" cy="411480"/>
          </a:xfrm>
          <a:prstGeom prst="rect">
            <a:avLst/>
          </a:prstGeom>
          <a:solidFill>
            <a:srgbClr val="F96167"/>
          </a:solidFill>
          <a:ln w="12700">
            <a:solidFill>
              <a:srgbClr val="F96167"/>
            </a:solidFill>
            <a:prstDash val="solid"/>
          </a:ln>
        </p:spPr>
        <p:txBody>
          <a:bodyPr/>
          <a:lstStyle/>
          <a:p>
            <a:endParaRPr lang="en-US"/>
          </a:p>
        </p:txBody>
      </p:sp>
      <p:sp>
        <p:nvSpPr>
          <p:cNvPr id="10" name="Text 8"/>
          <p:cNvSpPr/>
          <p:nvPr/>
        </p:nvSpPr>
        <p:spPr>
          <a:xfrm>
            <a:off x="4892040" y="1005840"/>
            <a:ext cx="3931920" cy="411480"/>
          </a:xfrm>
          <a:prstGeom prst="rect">
            <a:avLst/>
          </a:prstGeom>
          <a:noFill/>
          <a:ln/>
        </p:spPr>
        <p:txBody>
          <a:bodyPr wrap="square" lIns="63500" tIns="63500" rIns="63500" bIns="6350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Goals</a:t>
            </a:r>
            <a:endParaRPr lang="en-US" sz="1400" dirty="0"/>
          </a:p>
        </p:txBody>
      </p:sp>
      <p:sp>
        <p:nvSpPr>
          <p:cNvPr id="11" name="Text 9"/>
          <p:cNvSpPr/>
          <p:nvPr/>
        </p:nvSpPr>
        <p:spPr>
          <a:xfrm>
            <a:off x="4937760" y="1508760"/>
            <a:ext cx="3749040" cy="292608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Why this dataset?</a:t>
            </a:r>
            <a:endParaRPr lang="en-US" sz="1300" dirty="0"/>
          </a:p>
          <a:p>
            <a:pPr marL="0" indent="0">
              <a:buNone/>
            </a:pPr>
            <a:r>
              <a:rPr lang="en-US" sz="600" dirty="0">
                <a:solidFill>
                  <a:srgbClr val="1A1A2E"/>
                </a:solidFill>
                <a:latin typeface="Calibri" pitchFamily="34" charset="0"/>
                <a:ea typeface="Calibri" pitchFamily="34" charset="-122"/>
                <a:cs typeface="Calibri" pitchFamily="34" charset="-120"/>
              </a:rPr>
              <a:t>
</a:t>
            </a:r>
            <a:endParaRPr lang="en-US" sz="1300" dirty="0"/>
          </a:p>
          <a:p>
            <a:pPr marL="342900" indent="-342900">
              <a:buSzPct val="100000"/>
              <a:buChar char="•"/>
            </a:pPr>
            <a:r>
              <a:rPr lang="en-US" sz="1300" dirty="0">
                <a:solidFill>
                  <a:srgbClr val="1A1A2E"/>
                </a:solidFill>
                <a:latin typeface="Calibri" pitchFamily="34" charset="0"/>
                <a:ea typeface="Calibri" pitchFamily="34" charset="-122"/>
                <a:cs typeface="Calibri" pitchFamily="34" charset="-120"/>
              </a:rPr>
              <a:t>Large-scale &amp; realistic</a:t>
            </a:r>
            <a:endParaRPr lang="en-US" sz="1300" dirty="0"/>
          </a:p>
          <a:p>
            <a:pPr marL="342900" indent="-342900">
              <a:buSzPct val="100000"/>
              <a:buChar char="•"/>
            </a:pPr>
            <a:r>
              <a:rPr lang="en-US" sz="1300" dirty="0">
                <a:solidFill>
                  <a:srgbClr val="1A1A2E"/>
                </a:solidFill>
                <a:latin typeface="Calibri" pitchFamily="34" charset="0"/>
                <a:ea typeface="Calibri" pitchFamily="34" charset="-122"/>
                <a:cs typeface="Calibri" pitchFamily="34" charset="-120"/>
              </a:rPr>
              <a:t>Suitable for Big Data tools</a:t>
            </a:r>
            <a:endParaRPr lang="en-US" sz="1300" dirty="0"/>
          </a:p>
          <a:p>
            <a:pPr marL="342900" indent="-342900">
              <a:buSzPct val="100000"/>
              <a:buChar char="•"/>
            </a:pPr>
            <a:r>
              <a:rPr lang="en-US" sz="1300" dirty="0">
                <a:solidFill>
                  <a:srgbClr val="1A1A2E"/>
                </a:solidFill>
                <a:latin typeface="Calibri" pitchFamily="34" charset="0"/>
                <a:ea typeface="Calibri" pitchFamily="34" charset="-122"/>
                <a:cs typeface="Calibri" pitchFamily="34" charset="-120"/>
              </a:rPr>
              <a:t>Healthcare significance</a:t>
            </a:r>
            <a:endParaRPr lang="en-US" sz="1300" dirty="0"/>
          </a:p>
          <a:p>
            <a:pPr marL="0" indent="0">
              <a:buNone/>
            </a:pPr>
            <a:r>
              <a:rPr lang="en-US" sz="600" dirty="0">
                <a:solidFill>
                  <a:srgbClr val="1A1A2E"/>
                </a:solidFill>
                <a:latin typeface="Calibri" pitchFamily="34" charset="0"/>
                <a:ea typeface="Calibri" pitchFamily="34" charset="-122"/>
                <a:cs typeface="Calibri" pitchFamily="34" charset="-120"/>
              </a:rPr>
              <a:t>
</a:t>
            </a:r>
            <a:endParaRPr lang="en-US" sz="1300" dirty="0"/>
          </a:p>
          <a:p>
            <a:pPr marL="342900" indent="-342900">
              <a:buSzPct val="100000"/>
              <a:buChar char="•"/>
            </a:pPr>
            <a:r>
              <a:rPr lang="en-US" sz="1300" dirty="0">
                <a:solidFill>
                  <a:srgbClr val="1A1A2E"/>
                </a:solidFill>
                <a:latin typeface="Calibri" pitchFamily="34" charset="0"/>
                <a:ea typeface="Calibri" pitchFamily="34" charset="-122"/>
                <a:cs typeface="Calibri" pitchFamily="34" charset="-120"/>
              </a:rPr>
              <a:t>Identify high-risk patients</a:t>
            </a:r>
            <a:endParaRPr lang="en-US" sz="1300" dirty="0"/>
          </a:p>
          <a:p>
            <a:pPr marL="342900" indent="-342900">
              <a:buSzPct val="100000"/>
              <a:buChar char="•"/>
            </a:pPr>
            <a:r>
              <a:rPr lang="en-US" sz="1300" dirty="0">
                <a:solidFill>
                  <a:srgbClr val="1A1A2E"/>
                </a:solidFill>
                <a:latin typeface="Calibri" pitchFamily="34" charset="0"/>
                <a:ea typeface="Calibri" pitchFamily="34" charset="-122"/>
                <a:cs typeface="Calibri" pitchFamily="34" charset="-120"/>
              </a:rPr>
              <a:t>Support healthcare decisions</a:t>
            </a:r>
            <a:endParaRPr lang="en-US" sz="1300" dirty="0"/>
          </a:p>
        </p:txBody>
      </p:sp>
      <p:sp>
        <p:nvSpPr>
          <p:cNvPr id="12" name="Shape 10"/>
          <p:cNvSpPr/>
          <p:nvPr/>
        </p:nvSpPr>
        <p:spPr>
          <a:xfrm>
            <a:off x="0" y="4846320"/>
            <a:ext cx="9144000" cy="297180"/>
          </a:xfrm>
          <a:prstGeom prst="rect">
            <a:avLst/>
          </a:prstGeom>
          <a:solidFill>
            <a:srgbClr val="028090"/>
          </a:solidFill>
          <a:ln w="12700">
            <a:solidFill>
              <a:srgbClr val="028090"/>
            </a:solidFill>
            <a:prstDash val="solid"/>
          </a:ln>
        </p:spPr>
        <p:txBody>
          <a:bodyPr/>
          <a:lstStyle/>
          <a:p>
            <a:endParaRPr lang="en-US"/>
          </a:p>
        </p:txBody>
      </p:sp>
      <p:sp>
        <p:nvSpPr>
          <p:cNvPr id="13" name="Text 11"/>
          <p:cNvSpPr/>
          <p:nvPr/>
        </p:nvSpPr>
        <p:spPr>
          <a:xfrm>
            <a:off x="274320" y="4846320"/>
            <a:ext cx="8229600" cy="29718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Group 11  |  Diabetes Big Data Pipeline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2137"/>
          </a:solidFill>
          <a:ln w="12700">
            <a:solidFill>
              <a:srgbClr val="0D2137"/>
            </a:solidFill>
            <a:prstDash val="solid"/>
          </a:ln>
        </p:spPr>
        <p:txBody>
          <a:bodyPr/>
          <a:lstStyle/>
          <a:p>
            <a:endParaRPr lang="en-US"/>
          </a:p>
        </p:txBody>
      </p:sp>
      <p:sp>
        <p:nvSpPr>
          <p:cNvPr id="3" name="Text 1"/>
          <p:cNvSpPr/>
          <p:nvPr/>
        </p:nvSpPr>
        <p:spPr>
          <a:xfrm>
            <a:off x="365760" y="0"/>
            <a:ext cx="8229600" cy="82296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System Pipeline Architecture</a:t>
            </a:r>
            <a:endParaRPr lang="en-US" sz="2600" dirty="0"/>
          </a:p>
        </p:txBody>
      </p:sp>
      <p:sp>
        <p:nvSpPr>
          <p:cNvPr id="4" name="Shape 2"/>
          <p:cNvSpPr/>
          <p:nvPr/>
        </p:nvSpPr>
        <p:spPr>
          <a:xfrm>
            <a:off x="228600" y="1188720"/>
            <a:ext cx="1463040" cy="2377440"/>
          </a:xfrm>
          <a:prstGeom prst="rect">
            <a:avLst/>
          </a:prstGeom>
          <a:solidFill>
            <a:srgbClr val="FFFFFF"/>
          </a:solidFill>
          <a:ln w="12700">
            <a:solidFill>
              <a:srgbClr val="D0E8EC"/>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228600" y="1188720"/>
            <a:ext cx="1463040" cy="457200"/>
          </a:xfrm>
          <a:prstGeom prst="rect">
            <a:avLst/>
          </a:prstGeom>
          <a:solidFill>
            <a:srgbClr val="F9C74F"/>
          </a:solidFill>
          <a:ln w="12700">
            <a:solidFill>
              <a:srgbClr val="F9C74F"/>
            </a:solidFill>
            <a:prstDash val="solid"/>
          </a:ln>
        </p:spPr>
        <p:txBody>
          <a:bodyPr/>
          <a:lstStyle/>
          <a:p>
            <a:endParaRPr lang="en-US"/>
          </a:p>
        </p:txBody>
      </p:sp>
      <p:sp>
        <p:nvSpPr>
          <p:cNvPr id="6" name="Text 4"/>
          <p:cNvSpPr/>
          <p:nvPr/>
        </p:nvSpPr>
        <p:spPr>
          <a:xfrm>
            <a:off x="228600" y="1691640"/>
            <a:ext cx="1463040" cy="50292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7" name="Text 5"/>
          <p:cNvSpPr/>
          <p:nvPr/>
        </p:nvSpPr>
        <p:spPr>
          <a:xfrm>
            <a:off x="228600" y="2240280"/>
            <a:ext cx="1463040" cy="411480"/>
          </a:xfrm>
          <a:prstGeom prst="rect">
            <a:avLst/>
          </a:prstGeom>
          <a:noFill/>
          <a:ln/>
        </p:spPr>
        <p:txBody>
          <a:bodyPr wrap="square" lIns="0" tIns="0" rIns="0" bIns="0" rtlCol="0" anchor="ctr"/>
          <a:lstStyle/>
          <a:p>
            <a:pPr marL="0" indent="0" algn="ctr">
              <a:buNone/>
            </a:pPr>
            <a:r>
              <a:rPr lang="en-US" sz="1200" b="1" dirty="0">
                <a:solidFill>
                  <a:srgbClr val="1A1A2E"/>
                </a:solidFill>
                <a:latin typeface="Calibri" pitchFamily="34" charset="0"/>
                <a:ea typeface="Calibri" pitchFamily="34" charset="-122"/>
                <a:cs typeface="Calibri" pitchFamily="34" charset="-120"/>
              </a:rPr>
              <a:t>CSV File</a:t>
            </a:r>
            <a:endParaRPr lang="en-US" sz="1200" dirty="0"/>
          </a:p>
        </p:txBody>
      </p:sp>
      <p:sp>
        <p:nvSpPr>
          <p:cNvPr id="8" name="Text 6"/>
          <p:cNvSpPr/>
          <p:nvPr/>
        </p:nvSpPr>
        <p:spPr>
          <a:xfrm>
            <a:off x="228600" y="2697480"/>
            <a:ext cx="1463040" cy="731520"/>
          </a:xfrm>
          <a:prstGeom prst="rect">
            <a:avLst/>
          </a:prstGeom>
          <a:noFill/>
          <a:ln/>
        </p:spPr>
        <p:txBody>
          <a:bodyPr wrap="square" lIns="50800" tIns="50800" rIns="50800" bIns="5080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diabetes_dataset.csv</a:t>
            </a:r>
            <a:endParaRPr lang="en-US" sz="1000" dirty="0"/>
          </a:p>
          <a:p>
            <a:pPr marL="0" indent="0" algn="ctr">
              <a:buNone/>
            </a:pPr>
            <a:r>
              <a:rPr lang="en-US" sz="1000" dirty="0">
                <a:solidFill>
                  <a:srgbClr val="64748B"/>
                </a:solidFill>
                <a:latin typeface="Calibri" pitchFamily="34" charset="0"/>
                <a:ea typeface="Calibri" pitchFamily="34" charset="-122"/>
                <a:cs typeface="Calibri" pitchFamily="34" charset="-120"/>
              </a:rPr>
              <a:t>100K records</a:t>
            </a:r>
            <a:endParaRPr lang="en-US" sz="1000" dirty="0"/>
          </a:p>
        </p:txBody>
      </p:sp>
      <p:sp>
        <p:nvSpPr>
          <p:cNvPr id="9" name="Shape 7"/>
          <p:cNvSpPr/>
          <p:nvPr/>
        </p:nvSpPr>
        <p:spPr>
          <a:xfrm>
            <a:off x="1709928" y="2340864"/>
            <a:ext cx="192024" cy="73152"/>
          </a:xfrm>
          <a:prstGeom prst="rect">
            <a:avLst/>
          </a:prstGeom>
          <a:solidFill>
            <a:srgbClr val="028090"/>
          </a:solidFill>
          <a:ln w="12700">
            <a:solidFill>
              <a:srgbClr val="028090"/>
            </a:solidFill>
            <a:prstDash val="solid"/>
          </a:ln>
        </p:spPr>
        <p:txBody>
          <a:bodyPr/>
          <a:lstStyle/>
          <a:p>
            <a:endParaRPr lang="en-US"/>
          </a:p>
        </p:txBody>
      </p:sp>
      <p:sp>
        <p:nvSpPr>
          <p:cNvPr id="10" name="Shape 8"/>
          <p:cNvSpPr/>
          <p:nvPr/>
        </p:nvSpPr>
        <p:spPr>
          <a:xfrm>
            <a:off x="1920240" y="1188720"/>
            <a:ext cx="1463040" cy="2377440"/>
          </a:xfrm>
          <a:prstGeom prst="rect">
            <a:avLst/>
          </a:prstGeom>
          <a:solidFill>
            <a:srgbClr val="FFFFFF"/>
          </a:solidFill>
          <a:ln w="12700">
            <a:solidFill>
              <a:srgbClr val="D0E8EC"/>
            </a:solidFill>
            <a:prstDash val="solid"/>
          </a:ln>
          <a:effectLst>
            <a:outerShdw blurRad="101600" dist="38100" dir="8100000" algn="bl" rotWithShape="0">
              <a:srgbClr val="000000">
                <a:alpha val="12000"/>
              </a:srgbClr>
            </a:outerShdw>
          </a:effectLst>
        </p:spPr>
        <p:txBody>
          <a:bodyPr/>
          <a:lstStyle/>
          <a:p>
            <a:endParaRPr lang="en-US"/>
          </a:p>
        </p:txBody>
      </p:sp>
      <p:sp>
        <p:nvSpPr>
          <p:cNvPr id="11" name="Shape 9"/>
          <p:cNvSpPr/>
          <p:nvPr/>
        </p:nvSpPr>
        <p:spPr>
          <a:xfrm>
            <a:off x="1920240" y="1188720"/>
            <a:ext cx="1463040" cy="457200"/>
          </a:xfrm>
          <a:prstGeom prst="rect">
            <a:avLst/>
          </a:prstGeom>
          <a:solidFill>
            <a:srgbClr val="028090"/>
          </a:solidFill>
          <a:ln w="12700">
            <a:solidFill>
              <a:srgbClr val="028090"/>
            </a:solidFill>
            <a:prstDash val="solid"/>
          </a:ln>
        </p:spPr>
        <p:txBody>
          <a:bodyPr/>
          <a:lstStyle/>
          <a:p>
            <a:endParaRPr lang="en-US"/>
          </a:p>
        </p:txBody>
      </p:sp>
      <p:sp>
        <p:nvSpPr>
          <p:cNvPr id="12" name="Text 10"/>
          <p:cNvSpPr/>
          <p:nvPr/>
        </p:nvSpPr>
        <p:spPr>
          <a:xfrm>
            <a:off x="1920240" y="1691640"/>
            <a:ext cx="1463040" cy="50292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3" name="Text 11"/>
          <p:cNvSpPr/>
          <p:nvPr/>
        </p:nvSpPr>
        <p:spPr>
          <a:xfrm>
            <a:off x="1920240" y="2240280"/>
            <a:ext cx="1463040" cy="411480"/>
          </a:xfrm>
          <a:prstGeom prst="rect">
            <a:avLst/>
          </a:prstGeom>
          <a:noFill/>
          <a:ln/>
        </p:spPr>
        <p:txBody>
          <a:bodyPr wrap="square" lIns="0" tIns="0" rIns="0" bIns="0" rtlCol="0" anchor="ctr"/>
          <a:lstStyle/>
          <a:p>
            <a:pPr marL="0" indent="0" algn="ctr">
              <a:buNone/>
            </a:pPr>
            <a:r>
              <a:rPr lang="en-US" sz="1200" b="1" dirty="0">
                <a:solidFill>
                  <a:srgbClr val="1A1A2E"/>
                </a:solidFill>
                <a:latin typeface="Calibri" pitchFamily="34" charset="0"/>
                <a:ea typeface="Calibri" pitchFamily="34" charset="-122"/>
                <a:cs typeface="Calibri" pitchFamily="34" charset="-120"/>
              </a:rPr>
              <a:t>MongoDB</a:t>
            </a:r>
            <a:endParaRPr lang="en-US" sz="1200" dirty="0"/>
          </a:p>
        </p:txBody>
      </p:sp>
      <p:sp>
        <p:nvSpPr>
          <p:cNvPr id="14" name="Text 12"/>
          <p:cNvSpPr/>
          <p:nvPr/>
        </p:nvSpPr>
        <p:spPr>
          <a:xfrm>
            <a:off x="1920240" y="2697480"/>
            <a:ext cx="1463040" cy="731520"/>
          </a:xfrm>
          <a:prstGeom prst="rect">
            <a:avLst/>
          </a:prstGeom>
          <a:noFill/>
          <a:ln/>
        </p:spPr>
        <p:txBody>
          <a:bodyPr wrap="square" lIns="50800" tIns="50800" rIns="50800" bIns="5080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diabetes_db</a:t>
            </a:r>
            <a:endParaRPr lang="en-US" sz="1000" dirty="0"/>
          </a:p>
          <a:p>
            <a:pPr marL="0" indent="0" algn="ctr">
              <a:buNone/>
            </a:pPr>
            <a:r>
              <a:rPr lang="en-US" sz="1000" dirty="0">
                <a:solidFill>
                  <a:srgbClr val="64748B"/>
                </a:solidFill>
                <a:latin typeface="Calibri" pitchFamily="34" charset="0"/>
                <a:ea typeface="Calibri" pitchFamily="34" charset="-122"/>
                <a:cs typeface="Calibri" pitchFamily="34" charset="-120"/>
              </a:rPr>
              <a:t>patients collection</a:t>
            </a:r>
            <a:endParaRPr lang="en-US" sz="1000" dirty="0"/>
          </a:p>
        </p:txBody>
      </p:sp>
      <p:sp>
        <p:nvSpPr>
          <p:cNvPr id="15" name="Shape 13"/>
          <p:cNvSpPr/>
          <p:nvPr/>
        </p:nvSpPr>
        <p:spPr>
          <a:xfrm>
            <a:off x="3401568" y="2340864"/>
            <a:ext cx="192024" cy="73152"/>
          </a:xfrm>
          <a:prstGeom prst="rect">
            <a:avLst/>
          </a:prstGeom>
          <a:solidFill>
            <a:srgbClr val="028090"/>
          </a:solidFill>
          <a:ln w="12700">
            <a:solidFill>
              <a:srgbClr val="028090"/>
            </a:solidFill>
            <a:prstDash val="solid"/>
          </a:ln>
        </p:spPr>
        <p:txBody>
          <a:bodyPr/>
          <a:lstStyle/>
          <a:p>
            <a:endParaRPr lang="en-US"/>
          </a:p>
        </p:txBody>
      </p:sp>
      <p:sp>
        <p:nvSpPr>
          <p:cNvPr id="16" name="Shape 14"/>
          <p:cNvSpPr/>
          <p:nvPr/>
        </p:nvSpPr>
        <p:spPr>
          <a:xfrm>
            <a:off x="3611880" y="1188720"/>
            <a:ext cx="1463040" cy="2377440"/>
          </a:xfrm>
          <a:prstGeom prst="rect">
            <a:avLst/>
          </a:prstGeom>
          <a:solidFill>
            <a:srgbClr val="FFFFFF"/>
          </a:solidFill>
          <a:ln w="12700">
            <a:solidFill>
              <a:srgbClr val="D0E8EC"/>
            </a:solidFill>
            <a:prstDash val="solid"/>
          </a:ln>
          <a:effectLst>
            <a:outerShdw blurRad="101600" dist="38100" dir="8100000" algn="bl" rotWithShape="0">
              <a:srgbClr val="000000">
                <a:alpha val="12000"/>
              </a:srgbClr>
            </a:outerShdw>
          </a:effectLst>
        </p:spPr>
        <p:txBody>
          <a:bodyPr/>
          <a:lstStyle/>
          <a:p>
            <a:endParaRPr lang="en-US"/>
          </a:p>
        </p:txBody>
      </p:sp>
      <p:sp>
        <p:nvSpPr>
          <p:cNvPr id="17" name="Shape 15"/>
          <p:cNvSpPr/>
          <p:nvPr/>
        </p:nvSpPr>
        <p:spPr>
          <a:xfrm>
            <a:off x="3611880" y="1188720"/>
            <a:ext cx="1463040" cy="457200"/>
          </a:xfrm>
          <a:prstGeom prst="rect">
            <a:avLst/>
          </a:prstGeom>
          <a:solidFill>
            <a:srgbClr val="00A896"/>
          </a:solidFill>
          <a:ln w="12700">
            <a:solidFill>
              <a:srgbClr val="00A896"/>
            </a:solidFill>
            <a:prstDash val="solid"/>
          </a:ln>
        </p:spPr>
        <p:txBody>
          <a:bodyPr/>
          <a:lstStyle/>
          <a:p>
            <a:endParaRPr lang="en-US"/>
          </a:p>
        </p:txBody>
      </p:sp>
      <p:sp>
        <p:nvSpPr>
          <p:cNvPr id="18" name="Text 16"/>
          <p:cNvSpPr/>
          <p:nvPr/>
        </p:nvSpPr>
        <p:spPr>
          <a:xfrm>
            <a:off x="3611880" y="1691640"/>
            <a:ext cx="1463040" cy="50292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9" name="Text 17"/>
          <p:cNvSpPr/>
          <p:nvPr/>
        </p:nvSpPr>
        <p:spPr>
          <a:xfrm>
            <a:off x="3611880" y="2240280"/>
            <a:ext cx="1463040" cy="411480"/>
          </a:xfrm>
          <a:prstGeom prst="rect">
            <a:avLst/>
          </a:prstGeom>
          <a:noFill/>
          <a:ln/>
        </p:spPr>
        <p:txBody>
          <a:bodyPr wrap="square" lIns="0" tIns="0" rIns="0" bIns="0" rtlCol="0" anchor="ctr"/>
          <a:lstStyle/>
          <a:p>
            <a:pPr marL="0" indent="0" algn="ctr">
              <a:buNone/>
            </a:pPr>
            <a:r>
              <a:rPr lang="en-US" sz="1200" b="1" dirty="0">
                <a:solidFill>
                  <a:srgbClr val="1A1A2E"/>
                </a:solidFill>
                <a:latin typeface="Calibri" pitchFamily="34" charset="0"/>
                <a:ea typeface="Calibri" pitchFamily="34" charset="-122"/>
                <a:cs typeface="Calibri" pitchFamily="34" charset="-120"/>
              </a:rPr>
              <a:t>Apache Spark</a:t>
            </a:r>
            <a:endParaRPr lang="en-US" sz="1200" dirty="0"/>
          </a:p>
        </p:txBody>
      </p:sp>
      <p:sp>
        <p:nvSpPr>
          <p:cNvPr id="20" name="Text 18"/>
          <p:cNvSpPr/>
          <p:nvPr/>
        </p:nvSpPr>
        <p:spPr>
          <a:xfrm>
            <a:off x="3611880" y="2697480"/>
            <a:ext cx="1463040" cy="731520"/>
          </a:xfrm>
          <a:prstGeom prst="rect">
            <a:avLst/>
          </a:prstGeom>
          <a:noFill/>
          <a:ln/>
        </p:spPr>
        <p:txBody>
          <a:bodyPr wrap="square" lIns="50800" tIns="50800" rIns="50800" bIns="5080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DataFrame</a:t>
            </a:r>
            <a:endParaRPr lang="en-US" sz="1000" dirty="0"/>
          </a:p>
          <a:p>
            <a:pPr marL="0" indent="0" algn="ctr">
              <a:buNone/>
            </a:pPr>
            <a:r>
              <a:rPr lang="en-US" sz="1000" dirty="0">
                <a:solidFill>
                  <a:srgbClr val="64748B"/>
                </a:solidFill>
                <a:latin typeface="Calibri" pitchFamily="34" charset="0"/>
                <a:ea typeface="Calibri" pitchFamily="34" charset="-122"/>
                <a:cs typeface="Calibri" pitchFamily="34" charset="-120"/>
              </a:rPr>
              <a:t>Data Cleaning</a:t>
            </a:r>
            <a:endParaRPr lang="en-US" sz="1000" dirty="0"/>
          </a:p>
        </p:txBody>
      </p:sp>
      <p:sp>
        <p:nvSpPr>
          <p:cNvPr id="21" name="Shape 19"/>
          <p:cNvSpPr/>
          <p:nvPr/>
        </p:nvSpPr>
        <p:spPr>
          <a:xfrm>
            <a:off x="5093208" y="2340864"/>
            <a:ext cx="192024" cy="73152"/>
          </a:xfrm>
          <a:prstGeom prst="rect">
            <a:avLst/>
          </a:prstGeom>
          <a:solidFill>
            <a:srgbClr val="028090"/>
          </a:solidFill>
          <a:ln w="12700">
            <a:solidFill>
              <a:srgbClr val="028090"/>
            </a:solidFill>
            <a:prstDash val="solid"/>
          </a:ln>
        </p:spPr>
        <p:txBody>
          <a:bodyPr/>
          <a:lstStyle/>
          <a:p>
            <a:endParaRPr lang="en-US"/>
          </a:p>
        </p:txBody>
      </p:sp>
      <p:sp>
        <p:nvSpPr>
          <p:cNvPr id="22" name="Shape 20"/>
          <p:cNvSpPr/>
          <p:nvPr/>
        </p:nvSpPr>
        <p:spPr>
          <a:xfrm>
            <a:off x="5303520" y="1188720"/>
            <a:ext cx="1463040" cy="2377440"/>
          </a:xfrm>
          <a:prstGeom prst="rect">
            <a:avLst/>
          </a:prstGeom>
          <a:solidFill>
            <a:srgbClr val="FFFFFF"/>
          </a:solidFill>
          <a:ln w="12700">
            <a:solidFill>
              <a:srgbClr val="D0E8EC"/>
            </a:solidFill>
            <a:prstDash val="solid"/>
          </a:ln>
          <a:effectLst>
            <a:outerShdw blurRad="101600" dist="38100" dir="8100000" algn="bl" rotWithShape="0">
              <a:srgbClr val="000000">
                <a:alpha val="12000"/>
              </a:srgbClr>
            </a:outerShdw>
          </a:effectLst>
        </p:spPr>
        <p:txBody>
          <a:bodyPr/>
          <a:lstStyle/>
          <a:p>
            <a:endParaRPr lang="en-US"/>
          </a:p>
        </p:txBody>
      </p:sp>
      <p:sp>
        <p:nvSpPr>
          <p:cNvPr id="23" name="Shape 21"/>
          <p:cNvSpPr/>
          <p:nvPr/>
        </p:nvSpPr>
        <p:spPr>
          <a:xfrm>
            <a:off x="5303520" y="1188720"/>
            <a:ext cx="1463040" cy="457200"/>
          </a:xfrm>
          <a:prstGeom prst="rect">
            <a:avLst/>
          </a:prstGeom>
          <a:solidFill>
            <a:srgbClr val="02C39A"/>
          </a:solidFill>
          <a:ln w="12700">
            <a:solidFill>
              <a:srgbClr val="02C39A"/>
            </a:solidFill>
            <a:prstDash val="solid"/>
          </a:ln>
        </p:spPr>
        <p:txBody>
          <a:bodyPr/>
          <a:lstStyle/>
          <a:p>
            <a:endParaRPr lang="en-US"/>
          </a:p>
        </p:txBody>
      </p:sp>
      <p:sp>
        <p:nvSpPr>
          <p:cNvPr id="24" name="Text 22"/>
          <p:cNvSpPr/>
          <p:nvPr/>
        </p:nvSpPr>
        <p:spPr>
          <a:xfrm>
            <a:off x="5303520" y="1691640"/>
            <a:ext cx="1463040" cy="50292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5" name="Text 23"/>
          <p:cNvSpPr/>
          <p:nvPr/>
        </p:nvSpPr>
        <p:spPr>
          <a:xfrm>
            <a:off x="5303520" y="2240280"/>
            <a:ext cx="1463040" cy="411480"/>
          </a:xfrm>
          <a:prstGeom prst="rect">
            <a:avLst/>
          </a:prstGeom>
          <a:noFill/>
          <a:ln/>
        </p:spPr>
        <p:txBody>
          <a:bodyPr wrap="square" lIns="0" tIns="0" rIns="0" bIns="0" rtlCol="0" anchor="ctr"/>
          <a:lstStyle/>
          <a:p>
            <a:pPr marL="0" indent="0" algn="ctr">
              <a:buNone/>
            </a:pPr>
            <a:r>
              <a:rPr lang="en-US" sz="1200" b="1" dirty="0">
                <a:solidFill>
                  <a:srgbClr val="1A1A2E"/>
                </a:solidFill>
                <a:latin typeface="Calibri" pitchFamily="34" charset="0"/>
                <a:ea typeface="Calibri" pitchFamily="34" charset="-122"/>
                <a:cs typeface="Calibri" pitchFamily="34" charset="-120"/>
              </a:rPr>
              <a:t>Analysis</a:t>
            </a:r>
            <a:endParaRPr lang="en-US" sz="1200" dirty="0"/>
          </a:p>
        </p:txBody>
      </p:sp>
      <p:sp>
        <p:nvSpPr>
          <p:cNvPr id="26" name="Text 24"/>
          <p:cNvSpPr/>
          <p:nvPr/>
        </p:nvSpPr>
        <p:spPr>
          <a:xfrm>
            <a:off x="5303520" y="2697480"/>
            <a:ext cx="1463040" cy="731520"/>
          </a:xfrm>
          <a:prstGeom prst="rect">
            <a:avLst/>
          </a:prstGeom>
          <a:noFill/>
          <a:ln/>
        </p:spPr>
        <p:txBody>
          <a:bodyPr wrap="square" lIns="50800" tIns="50800" rIns="50800" bIns="5080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SQL Queries</a:t>
            </a:r>
            <a:endParaRPr lang="en-US" sz="1000" dirty="0"/>
          </a:p>
          <a:p>
            <a:pPr marL="0" indent="0" algn="ctr">
              <a:buNone/>
            </a:pPr>
            <a:r>
              <a:rPr lang="en-US" sz="1000" dirty="0">
                <a:solidFill>
                  <a:srgbClr val="64748B"/>
                </a:solidFill>
                <a:latin typeface="Calibri" pitchFamily="34" charset="0"/>
                <a:ea typeface="Calibri" pitchFamily="34" charset="-122"/>
                <a:cs typeface="Calibri" pitchFamily="34" charset="-120"/>
              </a:rPr>
              <a:t>Window Functions</a:t>
            </a:r>
            <a:endParaRPr lang="en-US" sz="1000" dirty="0"/>
          </a:p>
        </p:txBody>
      </p:sp>
      <p:sp>
        <p:nvSpPr>
          <p:cNvPr id="27" name="Shape 25"/>
          <p:cNvSpPr/>
          <p:nvPr/>
        </p:nvSpPr>
        <p:spPr>
          <a:xfrm>
            <a:off x="6784848" y="2340864"/>
            <a:ext cx="192024" cy="73152"/>
          </a:xfrm>
          <a:prstGeom prst="rect">
            <a:avLst/>
          </a:prstGeom>
          <a:solidFill>
            <a:srgbClr val="028090"/>
          </a:solidFill>
          <a:ln w="12700">
            <a:solidFill>
              <a:srgbClr val="028090"/>
            </a:solidFill>
            <a:prstDash val="solid"/>
          </a:ln>
        </p:spPr>
        <p:txBody>
          <a:bodyPr/>
          <a:lstStyle/>
          <a:p>
            <a:endParaRPr lang="en-US"/>
          </a:p>
        </p:txBody>
      </p:sp>
      <p:sp>
        <p:nvSpPr>
          <p:cNvPr id="28" name="Shape 26"/>
          <p:cNvSpPr/>
          <p:nvPr/>
        </p:nvSpPr>
        <p:spPr>
          <a:xfrm>
            <a:off x="6995160" y="1188720"/>
            <a:ext cx="1463040" cy="2377440"/>
          </a:xfrm>
          <a:prstGeom prst="rect">
            <a:avLst/>
          </a:prstGeom>
          <a:solidFill>
            <a:srgbClr val="FFFFFF"/>
          </a:solidFill>
          <a:ln w="12700">
            <a:solidFill>
              <a:srgbClr val="D0E8EC"/>
            </a:solidFill>
            <a:prstDash val="solid"/>
          </a:ln>
          <a:effectLst>
            <a:outerShdw blurRad="101600" dist="38100" dir="8100000" algn="bl" rotWithShape="0">
              <a:srgbClr val="000000">
                <a:alpha val="12000"/>
              </a:srgbClr>
            </a:outerShdw>
          </a:effectLst>
        </p:spPr>
        <p:txBody>
          <a:bodyPr/>
          <a:lstStyle/>
          <a:p>
            <a:endParaRPr lang="en-US"/>
          </a:p>
        </p:txBody>
      </p:sp>
      <p:sp>
        <p:nvSpPr>
          <p:cNvPr id="29" name="Shape 27"/>
          <p:cNvSpPr/>
          <p:nvPr/>
        </p:nvSpPr>
        <p:spPr>
          <a:xfrm>
            <a:off x="6995160" y="1188720"/>
            <a:ext cx="1463040" cy="457200"/>
          </a:xfrm>
          <a:prstGeom prst="rect">
            <a:avLst/>
          </a:prstGeom>
          <a:solidFill>
            <a:srgbClr val="F96167"/>
          </a:solidFill>
          <a:ln w="12700">
            <a:solidFill>
              <a:srgbClr val="F96167"/>
            </a:solidFill>
            <a:prstDash val="solid"/>
          </a:ln>
        </p:spPr>
        <p:txBody>
          <a:bodyPr/>
          <a:lstStyle/>
          <a:p>
            <a:endParaRPr lang="en-US"/>
          </a:p>
        </p:txBody>
      </p:sp>
      <p:sp>
        <p:nvSpPr>
          <p:cNvPr id="30" name="Text 28"/>
          <p:cNvSpPr/>
          <p:nvPr/>
        </p:nvSpPr>
        <p:spPr>
          <a:xfrm>
            <a:off x="6995160" y="1691640"/>
            <a:ext cx="1463040" cy="50292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31" name="Text 29"/>
          <p:cNvSpPr/>
          <p:nvPr/>
        </p:nvSpPr>
        <p:spPr>
          <a:xfrm>
            <a:off x="6995160" y="2240280"/>
            <a:ext cx="1463040" cy="411480"/>
          </a:xfrm>
          <a:prstGeom prst="rect">
            <a:avLst/>
          </a:prstGeom>
          <a:noFill/>
          <a:ln/>
        </p:spPr>
        <p:txBody>
          <a:bodyPr wrap="square" lIns="0" tIns="0" rIns="0" bIns="0" rtlCol="0" anchor="ctr"/>
          <a:lstStyle/>
          <a:p>
            <a:pPr marL="0" indent="0" algn="ctr">
              <a:buNone/>
            </a:pPr>
            <a:r>
              <a:rPr lang="en-US" sz="1200" b="1" dirty="0">
                <a:solidFill>
                  <a:srgbClr val="1A1A2E"/>
                </a:solidFill>
                <a:latin typeface="Calibri" pitchFamily="34" charset="0"/>
                <a:ea typeface="Calibri" pitchFamily="34" charset="-122"/>
                <a:cs typeface="Calibri" pitchFamily="34" charset="-120"/>
              </a:rPr>
              <a:t>Visualization</a:t>
            </a:r>
            <a:endParaRPr lang="en-US" sz="1200" dirty="0"/>
          </a:p>
        </p:txBody>
      </p:sp>
      <p:sp>
        <p:nvSpPr>
          <p:cNvPr id="32" name="Text 30"/>
          <p:cNvSpPr/>
          <p:nvPr/>
        </p:nvSpPr>
        <p:spPr>
          <a:xfrm>
            <a:off x="6995160" y="2697480"/>
            <a:ext cx="1463040" cy="731520"/>
          </a:xfrm>
          <a:prstGeom prst="rect">
            <a:avLst/>
          </a:prstGeom>
          <a:noFill/>
          <a:ln/>
        </p:spPr>
        <p:txBody>
          <a:bodyPr wrap="square" lIns="50800" tIns="50800" rIns="50800" bIns="5080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Charts &amp; Results</a:t>
            </a:r>
            <a:endParaRPr lang="en-US" sz="1000" dirty="0"/>
          </a:p>
          <a:p>
            <a:pPr marL="0" indent="0" algn="ctr">
              <a:buNone/>
            </a:pPr>
            <a:r>
              <a:rPr lang="en-US" sz="1000" dirty="0">
                <a:solidFill>
                  <a:srgbClr val="64748B"/>
                </a:solidFill>
                <a:latin typeface="Calibri" pitchFamily="34" charset="0"/>
                <a:ea typeface="Calibri" pitchFamily="34" charset="-122"/>
                <a:cs typeface="Calibri" pitchFamily="34" charset="-120"/>
              </a:rPr>
              <a:t>Parquet Storage</a:t>
            </a:r>
            <a:endParaRPr lang="en-US" sz="1000" dirty="0"/>
          </a:p>
        </p:txBody>
      </p:sp>
      <p:sp>
        <p:nvSpPr>
          <p:cNvPr id="33" name="Shape 31"/>
          <p:cNvSpPr/>
          <p:nvPr/>
        </p:nvSpPr>
        <p:spPr>
          <a:xfrm>
            <a:off x="0" y="4572000"/>
            <a:ext cx="9144000" cy="292608"/>
          </a:xfrm>
          <a:prstGeom prst="rect">
            <a:avLst/>
          </a:prstGeom>
          <a:solidFill>
            <a:srgbClr val="028090">
              <a:alpha val="85000"/>
            </a:srgbClr>
          </a:solidFill>
          <a:ln w="12700">
            <a:solidFill>
              <a:srgbClr val="028090">
                <a:alpha val="85000"/>
              </a:srgbClr>
            </a:solidFill>
            <a:prstDash val="solid"/>
          </a:ln>
        </p:spPr>
        <p:txBody>
          <a:bodyPr/>
          <a:lstStyle/>
          <a:p>
            <a:endParaRPr lang="en-US"/>
          </a:p>
        </p:txBody>
      </p:sp>
      <p:sp>
        <p:nvSpPr>
          <p:cNvPr id="34" name="Text 32"/>
          <p:cNvSpPr/>
          <p:nvPr/>
        </p:nvSpPr>
        <p:spPr>
          <a:xfrm>
            <a:off x="274320" y="4572000"/>
            <a:ext cx="8595360" cy="292608"/>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Tech Stack: Python  •  PySpark 4.1  •  MongoDB  •  Pandas  •  Seaborn  •  Parquet</a:t>
            </a:r>
            <a:endParaRPr lang="en-US" sz="1000" dirty="0"/>
          </a:p>
        </p:txBody>
      </p:sp>
      <p:sp>
        <p:nvSpPr>
          <p:cNvPr id="35" name="Shape 33"/>
          <p:cNvSpPr/>
          <p:nvPr/>
        </p:nvSpPr>
        <p:spPr>
          <a:xfrm>
            <a:off x="0" y="4846320"/>
            <a:ext cx="9144000" cy="297180"/>
          </a:xfrm>
          <a:prstGeom prst="rect">
            <a:avLst/>
          </a:prstGeom>
          <a:solidFill>
            <a:srgbClr val="028090"/>
          </a:solidFill>
          <a:ln w="12700">
            <a:solidFill>
              <a:srgbClr val="028090"/>
            </a:solidFill>
            <a:prstDash val="solid"/>
          </a:ln>
        </p:spPr>
        <p:txBody>
          <a:bodyPr/>
          <a:lstStyle/>
          <a:p>
            <a:endParaRPr lang="en-US"/>
          </a:p>
        </p:txBody>
      </p:sp>
      <p:sp>
        <p:nvSpPr>
          <p:cNvPr id="36" name="Text 34"/>
          <p:cNvSpPr/>
          <p:nvPr/>
        </p:nvSpPr>
        <p:spPr>
          <a:xfrm>
            <a:off x="274320" y="4846320"/>
            <a:ext cx="8229600" cy="29718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Group 11  |  Diabetes Big Data Pipeline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365760" y="0"/>
            <a:ext cx="8229600" cy="82296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Data Ingestion &amp; Cleaning</a:t>
            </a:r>
            <a:endParaRPr lang="en-US" sz="2600" dirty="0"/>
          </a:p>
        </p:txBody>
      </p:sp>
      <p:sp>
        <p:nvSpPr>
          <p:cNvPr id="4" name="Shape 2"/>
          <p:cNvSpPr/>
          <p:nvPr/>
        </p:nvSpPr>
        <p:spPr>
          <a:xfrm>
            <a:off x="274320" y="914400"/>
            <a:ext cx="1920240" cy="1097280"/>
          </a:xfrm>
          <a:prstGeom prst="rect">
            <a:avLst/>
          </a:prstGeom>
          <a:solidFill>
            <a:srgbClr val="FFFFFF"/>
          </a:solidFill>
          <a:ln w="12700">
            <a:solidFill>
              <a:srgbClr val="D0E8EC"/>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274320" y="914400"/>
            <a:ext cx="1920240" cy="73152"/>
          </a:xfrm>
          <a:prstGeom prst="rect">
            <a:avLst/>
          </a:prstGeom>
          <a:solidFill>
            <a:srgbClr val="028090"/>
          </a:solidFill>
          <a:ln w="12700">
            <a:solidFill>
              <a:srgbClr val="028090"/>
            </a:solidFill>
            <a:prstDash val="solid"/>
          </a:ln>
        </p:spPr>
        <p:txBody>
          <a:bodyPr/>
          <a:lstStyle/>
          <a:p>
            <a:endParaRPr lang="en-US"/>
          </a:p>
        </p:txBody>
      </p:sp>
      <p:sp>
        <p:nvSpPr>
          <p:cNvPr id="6" name="Text 4"/>
          <p:cNvSpPr/>
          <p:nvPr/>
        </p:nvSpPr>
        <p:spPr>
          <a:xfrm>
            <a:off x="274320" y="1005840"/>
            <a:ext cx="1920240" cy="548640"/>
          </a:xfrm>
          <a:prstGeom prst="rect">
            <a:avLst/>
          </a:prstGeom>
          <a:noFill/>
          <a:ln/>
        </p:spPr>
        <p:txBody>
          <a:bodyPr wrap="square" lIns="0" tIns="0" rIns="0" bIns="0" rtlCol="0" anchor="ctr"/>
          <a:lstStyle/>
          <a:p>
            <a:pPr marL="0" indent="0" algn="ctr">
              <a:buNone/>
            </a:pPr>
            <a:r>
              <a:rPr lang="en-US" sz="2200" b="1" dirty="0">
                <a:solidFill>
                  <a:srgbClr val="028090"/>
                </a:solidFill>
                <a:latin typeface="Calibri" pitchFamily="34" charset="0"/>
                <a:ea typeface="Calibri" pitchFamily="34" charset="-122"/>
                <a:cs typeface="Calibri" pitchFamily="34" charset="-120"/>
              </a:rPr>
              <a:t>100,000</a:t>
            </a:r>
            <a:endParaRPr lang="en-US" sz="2200" dirty="0"/>
          </a:p>
        </p:txBody>
      </p:sp>
      <p:sp>
        <p:nvSpPr>
          <p:cNvPr id="7" name="Text 5"/>
          <p:cNvSpPr/>
          <p:nvPr/>
        </p:nvSpPr>
        <p:spPr>
          <a:xfrm>
            <a:off x="274320" y="1572768"/>
            <a:ext cx="1920240" cy="36576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Records Loaded</a:t>
            </a:r>
            <a:endParaRPr lang="en-US" sz="1000" dirty="0"/>
          </a:p>
        </p:txBody>
      </p:sp>
      <p:sp>
        <p:nvSpPr>
          <p:cNvPr id="8" name="Shape 6"/>
          <p:cNvSpPr/>
          <p:nvPr/>
        </p:nvSpPr>
        <p:spPr>
          <a:xfrm>
            <a:off x="2450592" y="914400"/>
            <a:ext cx="1920240" cy="1097280"/>
          </a:xfrm>
          <a:prstGeom prst="rect">
            <a:avLst/>
          </a:prstGeom>
          <a:solidFill>
            <a:srgbClr val="FFFFFF"/>
          </a:solidFill>
          <a:ln w="12700">
            <a:solidFill>
              <a:srgbClr val="D0E8EC"/>
            </a:solidFill>
            <a:prstDash val="solid"/>
          </a:ln>
          <a:effectLst>
            <a:outerShdw blurRad="101600" dist="38100" dir="8100000" algn="bl" rotWithShape="0">
              <a:srgbClr val="000000">
                <a:alpha val="12000"/>
              </a:srgbClr>
            </a:outerShdw>
          </a:effectLst>
        </p:spPr>
        <p:txBody>
          <a:bodyPr/>
          <a:lstStyle/>
          <a:p>
            <a:endParaRPr lang="en-US"/>
          </a:p>
        </p:txBody>
      </p:sp>
      <p:sp>
        <p:nvSpPr>
          <p:cNvPr id="9" name="Shape 7"/>
          <p:cNvSpPr/>
          <p:nvPr/>
        </p:nvSpPr>
        <p:spPr>
          <a:xfrm>
            <a:off x="2450592" y="914400"/>
            <a:ext cx="1920240" cy="73152"/>
          </a:xfrm>
          <a:prstGeom prst="rect">
            <a:avLst/>
          </a:prstGeom>
          <a:solidFill>
            <a:srgbClr val="F96167"/>
          </a:solidFill>
          <a:ln w="12700">
            <a:solidFill>
              <a:srgbClr val="F96167"/>
            </a:solidFill>
            <a:prstDash val="solid"/>
          </a:ln>
        </p:spPr>
        <p:txBody>
          <a:bodyPr/>
          <a:lstStyle/>
          <a:p>
            <a:endParaRPr lang="en-US"/>
          </a:p>
        </p:txBody>
      </p:sp>
      <p:sp>
        <p:nvSpPr>
          <p:cNvPr id="10" name="Text 8"/>
          <p:cNvSpPr/>
          <p:nvPr/>
        </p:nvSpPr>
        <p:spPr>
          <a:xfrm>
            <a:off x="2450592" y="1005840"/>
            <a:ext cx="1920240" cy="548640"/>
          </a:xfrm>
          <a:prstGeom prst="rect">
            <a:avLst/>
          </a:prstGeom>
          <a:noFill/>
          <a:ln/>
        </p:spPr>
        <p:txBody>
          <a:bodyPr wrap="square" lIns="0" tIns="0" rIns="0" bIns="0" rtlCol="0" anchor="ctr"/>
          <a:lstStyle/>
          <a:p>
            <a:pPr marL="0" indent="0" algn="ctr">
              <a:buNone/>
            </a:pPr>
            <a:r>
              <a:rPr lang="en-US" sz="2200" b="1" dirty="0">
                <a:solidFill>
                  <a:srgbClr val="F96167"/>
                </a:solidFill>
                <a:latin typeface="Calibri" pitchFamily="34" charset="0"/>
                <a:ea typeface="Calibri" pitchFamily="34" charset="-122"/>
                <a:cs typeface="Calibri" pitchFamily="34" charset="-120"/>
              </a:rPr>
              <a:t>8.5%</a:t>
            </a:r>
            <a:endParaRPr lang="en-US" sz="2200" dirty="0"/>
          </a:p>
        </p:txBody>
      </p:sp>
      <p:sp>
        <p:nvSpPr>
          <p:cNvPr id="11" name="Text 9"/>
          <p:cNvSpPr/>
          <p:nvPr/>
        </p:nvSpPr>
        <p:spPr>
          <a:xfrm>
            <a:off x="2450592" y="1572768"/>
            <a:ext cx="1920240" cy="36576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Diabetic Patients</a:t>
            </a:r>
            <a:endParaRPr lang="en-US" sz="1000" dirty="0"/>
          </a:p>
        </p:txBody>
      </p:sp>
      <p:sp>
        <p:nvSpPr>
          <p:cNvPr id="12" name="Shape 10"/>
          <p:cNvSpPr/>
          <p:nvPr/>
        </p:nvSpPr>
        <p:spPr>
          <a:xfrm>
            <a:off x="4626864" y="914400"/>
            <a:ext cx="1920240" cy="1097280"/>
          </a:xfrm>
          <a:prstGeom prst="rect">
            <a:avLst/>
          </a:prstGeom>
          <a:solidFill>
            <a:srgbClr val="FFFFFF"/>
          </a:solidFill>
          <a:ln w="12700">
            <a:solidFill>
              <a:srgbClr val="D0E8EC"/>
            </a:solidFill>
            <a:prstDash val="solid"/>
          </a:ln>
          <a:effectLst>
            <a:outerShdw blurRad="101600" dist="38100" dir="8100000" algn="bl" rotWithShape="0">
              <a:srgbClr val="000000">
                <a:alpha val="12000"/>
              </a:srgbClr>
            </a:outerShdw>
          </a:effectLst>
        </p:spPr>
        <p:txBody>
          <a:bodyPr/>
          <a:lstStyle/>
          <a:p>
            <a:endParaRPr lang="en-US"/>
          </a:p>
        </p:txBody>
      </p:sp>
      <p:sp>
        <p:nvSpPr>
          <p:cNvPr id="13" name="Shape 11"/>
          <p:cNvSpPr/>
          <p:nvPr/>
        </p:nvSpPr>
        <p:spPr>
          <a:xfrm>
            <a:off x="4626864" y="914400"/>
            <a:ext cx="1920240" cy="73152"/>
          </a:xfrm>
          <a:prstGeom prst="rect">
            <a:avLst/>
          </a:prstGeom>
          <a:solidFill>
            <a:srgbClr val="00A896"/>
          </a:solidFill>
          <a:ln w="12700">
            <a:solidFill>
              <a:srgbClr val="00A896"/>
            </a:solidFill>
            <a:prstDash val="solid"/>
          </a:ln>
        </p:spPr>
        <p:txBody>
          <a:bodyPr/>
          <a:lstStyle/>
          <a:p>
            <a:endParaRPr lang="en-US"/>
          </a:p>
        </p:txBody>
      </p:sp>
      <p:sp>
        <p:nvSpPr>
          <p:cNvPr id="14" name="Text 12"/>
          <p:cNvSpPr/>
          <p:nvPr/>
        </p:nvSpPr>
        <p:spPr>
          <a:xfrm>
            <a:off x="4626864" y="1005840"/>
            <a:ext cx="1920240" cy="548640"/>
          </a:xfrm>
          <a:prstGeom prst="rect">
            <a:avLst/>
          </a:prstGeom>
          <a:noFill/>
          <a:ln/>
        </p:spPr>
        <p:txBody>
          <a:bodyPr wrap="square" lIns="0" tIns="0" rIns="0" bIns="0" rtlCol="0" anchor="ctr"/>
          <a:lstStyle/>
          <a:p>
            <a:pPr marL="0" indent="0" algn="ctr">
              <a:buNone/>
            </a:pPr>
            <a:r>
              <a:rPr lang="en-US" sz="2200" b="1" dirty="0">
                <a:solidFill>
                  <a:srgbClr val="00A896"/>
                </a:solidFill>
                <a:latin typeface="Calibri" pitchFamily="34" charset="0"/>
                <a:ea typeface="Calibri" pitchFamily="34" charset="-122"/>
                <a:cs typeface="Calibri" pitchFamily="34" charset="-120"/>
              </a:rPr>
              <a:t>91,500</a:t>
            </a:r>
            <a:endParaRPr lang="en-US" sz="2200" dirty="0"/>
          </a:p>
        </p:txBody>
      </p:sp>
      <p:sp>
        <p:nvSpPr>
          <p:cNvPr id="15" name="Text 13"/>
          <p:cNvSpPr/>
          <p:nvPr/>
        </p:nvSpPr>
        <p:spPr>
          <a:xfrm>
            <a:off x="4626864" y="1572768"/>
            <a:ext cx="1920240" cy="36576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Non-Diabetic</a:t>
            </a:r>
            <a:endParaRPr lang="en-US" sz="1000" dirty="0"/>
          </a:p>
        </p:txBody>
      </p:sp>
      <p:sp>
        <p:nvSpPr>
          <p:cNvPr id="16" name="Shape 14"/>
          <p:cNvSpPr/>
          <p:nvPr/>
        </p:nvSpPr>
        <p:spPr>
          <a:xfrm>
            <a:off x="6803136" y="914400"/>
            <a:ext cx="1920240" cy="1097280"/>
          </a:xfrm>
          <a:prstGeom prst="rect">
            <a:avLst/>
          </a:prstGeom>
          <a:solidFill>
            <a:srgbClr val="FFFFFF"/>
          </a:solidFill>
          <a:ln w="12700">
            <a:solidFill>
              <a:srgbClr val="D0E8EC"/>
            </a:solidFill>
            <a:prstDash val="solid"/>
          </a:ln>
          <a:effectLst>
            <a:outerShdw blurRad="101600" dist="38100" dir="8100000" algn="bl" rotWithShape="0">
              <a:srgbClr val="000000">
                <a:alpha val="12000"/>
              </a:srgbClr>
            </a:outerShdw>
          </a:effectLst>
        </p:spPr>
        <p:txBody>
          <a:bodyPr/>
          <a:lstStyle/>
          <a:p>
            <a:endParaRPr lang="en-US"/>
          </a:p>
        </p:txBody>
      </p:sp>
      <p:sp>
        <p:nvSpPr>
          <p:cNvPr id="17" name="Shape 15"/>
          <p:cNvSpPr/>
          <p:nvPr/>
        </p:nvSpPr>
        <p:spPr>
          <a:xfrm>
            <a:off x="6803136" y="914400"/>
            <a:ext cx="1920240" cy="73152"/>
          </a:xfrm>
          <a:prstGeom prst="rect">
            <a:avLst/>
          </a:prstGeom>
          <a:solidFill>
            <a:srgbClr val="F9C74F"/>
          </a:solidFill>
          <a:ln w="12700">
            <a:solidFill>
              <a:srgbClr val="F9C74F"/>
            </a:solidFill>
            <a:prstDash val="solid"/>
          </a:ln>
        </p:spPr>
        <p:txBody>
          <a:bodyPr/>
          <a:lstStyle/>
          <a:p>
            <a:endParaRPr lang="en-US"/>
          </a:p>
        </p:txBody>
      </p:sp>
      <p:sp>
        <p:nvSpPr>
          <p:cNvPr id="18" name="Text 16"/>
          <p:cNvSpPr/>
          <p:nvPr/>
        </p:nvSpPr>
        <p:spPr>
          <a:xfrm>
            <a:off x="6803136" y="1005840"/>
            <a:ext cx="1920240" cy="548640"/>
          </a:xfrm>
          <a:prstGeom prst="rect">
            <a:avLst/>
          </a:prstGeom>
          <a:noFill/>
          <a:ln/>
        </p:spPr>
        <p:txBody>
          <a:bodyPr wrap="square" lIns="0" tIns="0" rIns="0" bIns="0" rtlCol="0" anchor="ctr"/>
          <a:lstStyle/>
          <a:p>
            <a:pPr marL="0" indent="0" algn="ctr">
              <a:buNone/>
            </a:pPr>
            <a:r>
              <a:rPr lang="en-US" sz="2200" b="1" dirty="0">
                <a:solidFill>
                  <a:srgbClr val="F9C74F"/>
                </a:solidFill>
                <a:latin typeface="Calibri" pitchFamily="34" charset="0"/>
                <a:ea typeface="Calibri" pitchFamily="34" charset="-122"/>
                <a:cs typeface="Calibri" pitchFamily="34" charset="-120"/>
              </a:rPr>
              <a:t>16</a:t>
            </a:r>
            <a:endParaRPr lang="en-US" sz="2200" dirty="0"/>
          </a:p>
        </p:txBody>
      </p:sp>
      <p:sp>
        <p:nvSpPr>
          <p:cNvPr id="19" name="Text 17"/>
          <p:cNvSpPr/>
          <p:nvPr/>
        </p:nvSpPr>
        <p:spPr>
          <a:xfrm>
            <a:off x="6803136" y="1572768"/>
            <a:ext cx="1920240" cy="365760"/>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Features</a:t>
            </a:r>
            <a:endParaRPr lang="en-US" sz="1000" dirty="0"/>
          </a:p>
        </p:txBody>
      </p:sp>
      <p:sp>
        <p:nvSpPr>
          <p:cNvPr id="20" name="Shape 18"/>
          <p:cNvSpPr/>
          <p:nvPr/>
        </p:nvSpPr>
        <p:spPr>
          <a:xfrm>
            <a:off x="274320" y="2194560"/>
            <a:ext cx="4023360" cy="2560320"/>
          </a:xfrm>
          <a:prstGeom prst="rect">
            <a:avLst/>
          </a:prstGeom>
          <a:solidFill>
            <a:srgbClr val="FFFFFF"/>
          </a:solidFill>
          <a:ln w="12700">
            <a:solidFill>
              <a:srgbClr val="D0E8EC"/>
            </a:solidFill>
            <a:prstDash val="solid"/>
          </a:ln>
          <a:effectLst>
            <a:outerShdw blurRad="101600" dist="38100" dir="8100000" algn="bl" rotWithShape="0">
              <a:srgbClr val="000000">
                <a:alpha val="12000"/>
              </a:srgbClr>
            </a:outerShdw>
          </a:effectLst>
        </p:spPr>
        <p:txBody>
          <a:bodyPr/>
          <a:lstStyle/>
          <a:p>
            <a:endParaRPr lang="en-US"/>
          </a:p>
        </p:txBody>
      </p:sp>
      <p:sp>
        <p:nvSpPr>
          <p:cNvPr id="21" name="Shape 19"/>
          <p:cNvSpPr/>
          <p:nvPr/>
        </p:nvSpPr>
        <p:spPr>
          <a:xfrm>
            <a:off x="274320" y="2194560"/>
            <a:ext cx="4023360" cy="365760"/>
          </a:xfrm>
          <a:prstGeom prst="rect">
            <a:avLst/>
          </a:prstGeom>
          <a:solidFill>
            <a:srgbClr val="028090"/>
          </a:solidFill>
          <a:ln w="12700">
            <a:solidFill>
              <a:srgbClr val="028090"/>
            </a:solidFill>
            <a:prstDash val="solid"/>
          </a:ln>
        </p:spPr>
        <p:txBody>
          <a:bodyPr/>
          <a:lstStyle/>
          <a:p>
            <a:endParaRPr lang="en-US"/>
          </a:p>
        </p:txBody>
      </p:sp>
      <p:sp>
        <p:nvSpPr>
          <p:cNvPr id="22" name="Text 20"/>
          <p:cNvSpPr/>
          <p:nvPr/>
        </p:nvSpPr>
        <p:spPr>
          <a:xfrm>
            <a:off x="320040" y="2194560"/>
            <a:ext cx="3931920" cy="365760"/>
          </a:xfrm>
          <a:prstGeom prst="rect">
            <a:avLst/>
          </a:prstGeom>
          <a:noFill/>
          <a:ln/>
        </p:spPr>
        <p:txBody>
          <a:bodyPr wrap="square" lIns="63500" tIns="63500" rIns="63500" bIns="6350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Ingestion Steps</a:t>
            </a:r>
            <a:endParaRPr lang="en-US" sz="1300" dirty="0"/>
          </a:p>
        </p:txBody>
      </p:sp>
      <p:sp>
        <p:nvSpPr>
          <p:cNvPr id="23" name="Text 21"/>
          <p:cNvSpPr/>
          <p:nvPr/>
        </p:nvSpPr>
        <p:spPr>
          <a:xfrm>
            <a:off x="365760" y="2633472"/>
            <a:ext cx="3749040" cy="2011680"/>
          </a:xfrm>
          <a:prstGeom prst="rect">
            <a:avLst/>
          </a:prstGeom>
          <a:noFill/>
          <a:ln/>
        </p:spPr>
        <p:txBody>
          <a:bodyPr wrap="square" rtlCol="0" anchor="ctr"/>
          <a:lstStyle/>
          <a:p>
            <a:pPr marL="342900" indent="-342900">
              <a:buSzPct val="100000"/>
              <a:buFont typeface="+mj-lt"/>
              <a:buAutoNum type="arabicPeriod"/>
            </a:pPr>
            <a:r>
              <a:rPr lang="en-US" sz="1200" dirty="0">
                <a:solidFill>
                  <a:srgbClr val="1A1A2E"/>
                </a:solidFill>
                <a:latin typeface="Calibri" pitchFamily="34" charset="0"/>
                <a:ea typeface="Calibri" pitchFamily="34" charset="-122"/>
                <a:cs typeface="Calibri" pitchFamily="34" charset="-120"/>
              </a:rPr>
              <a:t>Load CSV with Pandas (100K rows)</a:t>
            </a:r>
            <a:endParaRPr lang="en-US" sz="1200" dirty="0"/>
          </a:p>
          <a:p>
            <a:pPr marL="342900" indent="-342900">
              <a:buSzPct val="100000"/>
              <a:buFont typeface="+mj-lt"/>
              <a:buAutoNum type="arabicPeriod"/>
            </a:pPr>
            <a:r>
              <a:rPr lang="en-US" sz="1200" dirty="0">
                <a:solidFill>
                  <a:srgbClr val="1A1A2E"/>
                </a:solidFill>
                <a:latin typeface="Calibri" pitchFamily="34" charset="0"/>
                <a:ea typeface="Calibri" pitchFamily="34" charset="-122"/>
                <a:cs typeface="Calibri" pitchFamily="34" charset="-120"/>
              </a:rPr>
              <a:t>Connect to MongoDB localhost:27017</a:t>
            </a:r>
            <a:endParaRPr lang="en-US" sz="1200" dirty="0"/>
          </a:p>
          <a:p>
            <a:pPr marL="342900" indent="-342900">
              <a:buSzPct val="100000"/>
              <a:buFont typeface="+mj-lt"/>
              <a:buAutoNum type="arabicPeriod"/>
            </a:pPr>
            <a:r>
              <a:rPr lang="en-US" sz="1200" dirty="0">
                <a:solidFill>
                  <a:srgbClr val="1A1A2E"/>
                </a:solidFill>
                <a:latin typeface="Calibri" pitchFamily="34" charset="0"/>
                <a:ea typeface="Calibri" pitchFamily="34" charset="-122"/>
                <a:cs typeface="Calibri" pitchFamily="34" charset="-120"/>
              </a:rPr>
              <a:t>Clear old records (delete_many)</a:t>
            </a:r>
            <a:endParaRPr lang="en-US" sz="1200" dirty="0"/>
          </a:p>
          <a:p>
            <a:pPr marL="342900" indent="-342900">
              <a:buSzPct val="100000"/>
              <a:buFont typeface="+mj-lt"/>
              <a:buAutoNum type="arabicPeriod"/>
            </a:pPr>
            <a:r>
              <a:rPr lang="en-US" sz="1200" dirty="0">
                <a:solidFill>
                  <a:srgbClr val="1A1A2E"/>
                </a:solidFill>
                <a:latin typeface="Calibri" pitchFamily="34" charset="0"/>
                <a:ea typeface="Calibri" pitchFamily="34" charset="-122"/>
                <a:cs typeface="Calibri" pitchFamily="34" charset="-120"/>
              </a:rPr>
              <a:t>Insert all records (insert_many)</a:t>
            </a:r>
            <a:endParaRPr lang="en-US" sz="1200" dirty="0"/>
          </a:p>
          <a:p>
            <a:pPr marL="342900" indent="-342900">
              <a:buSzPct val="100000"/>
              <a:buFont typeface="+mj-lt"/>
              <a:buAutoNum type="arabicPeriod"/>
            </a:pPr>
            <a:r>
              <a:rPr lang="en-US" sz="1200" dirty="0">
                <a:solidFill>
                  <a:srgbClr val="1A1A2E"/>
                </a:solidFill>
                <a:latin typeface="Calibri" pitchFamily="34" charset="0"/>
                <a:ea typeface="Calibri" pitchFamily="34" charset="-122"/>
                <a:cs typeface="Calibri" pitchFamily="34" charset="-120"/>
              </a:rPr>
              <a:t>Verify: 100,000 documents stored</a:t>
            </a:r>
            <a:endParaRPr lang="en-US" sz="1200" dirty="0"/>
          </a:p>
        </p:txBody>
      </p:sp>
      <p:sp>
        <p:nvSpPr>
          <p:cNvPr id="24" name="Shape 22"/>
          <p:cNvSpPr/>
          <p:nvPr/>
        </p:nvSpPr>
        <p:spPr>
          <a:xfrm>
            <a:off x="4846320" y="2194560"/>
            <a:ext cx="4023360" cy="2560320"/>
          </a:xfrm>
          <a:prstGeom prst="rect">
            <a:avLst/>
          </a:prstGeom>
          <a:solidFill>
            <a:srgbClr val="FFFFFF"/>
          </a:solidFill>
          <a:ln w="12700">
            <a:solidFill>
              <a:srgbClr val="D0E8EC"/>
            </a:solidFill>
            <a:prstDash val="solid"/>
          </a:ln>
          <a:effectLst>
            <a:outerShdw blurRad="101600" dist="38100" dir="8100000" algn="bl" rotWithShape="0">
              <a:srgbClr val="000000">
                <a:alpha val="12000"/>
              </a:srgbClr>
            </a:outerShdw>
          </a:effectLst>
        </p:spPr>
        <p:txBody>
          <a:bodyPr/>
          <a:lstStyle/>
          <a:p>
            <a:endParaRPr lang="en-US"/>
          </a:p>
        </p:txBody>
      </p:sp>
      <p:sp>
        <p:nvSpPr>
          <p:cNvPr id="25" name="Shape 23"/>
          <p:cNvSpPr/>
          <p:nvPr/>
        </p:nvSpPr>
        <p:spPr>
          <a:xfrm>
            <a:off x="4846320" y="2194560"/>
            <a:ext cx="4023360" cy="365760"/>
          </a:xfrm>
          <a:prstGeom prst="rect">
            <a:avLst/>
          </a:prstGeom>
          <a:solidFill>
            <a:srgbClr val="F96167"/>
          </a:solidFill>
          <a:ln w="12700">
            <a:solidFill>
              <a:srgbClr val="F96167"/>
            </a:solidFill>
            <a:prstDash val="solid"/>
          </a:ln>
        </p:spPr>
        <p:txBody>
          <a:bodyPr/>
          <a:lstStyle/>
          <a:p>
            <a:endParaRPr lang="en-US"/>
          </a:p>
        </p:txBody>
      </p:sp>
      <p:sp>
        <p:nvSpPr>
          <p:cNvPr id="26" name="Text 24"/>
          <p:cNvSpPr/>
          <p:nvPr/>
        </p:nvSpPr>
        <p:spPr>
          <a:xfrm>
            <a:off x="4892040" y="2194560"/>
            <a:ext cx="3931920" cy="365760"/>
          </a:xfrm>
          <a:prstGeom prst="rect">
            <a:avLst/>
          </a:prstGeom>
          <a:noFill/>
          <a:ln/>
        </p:spPr>
        <p:txBody>
          <a:bodyPr wrap="square" lIns="63500" tIns="63500" rIns="63500" bIns="6350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Spark Cleaning</a:t>
            </a:r>
            <a:endParaRPr lang="en-US" sz="1300" dirty="0"/>
          </a:p>
        </p:txBody>
      </p:sp>
      <p:sp>
        <p:nvSpPr>
          <p:cNvPr id="27" name="Text 25"/>
          <p:cNvSpPr/>
          <p:nvPr/>
        </p:nvSpPr>
        <p:spPr>
          <a:xfrm>
            <a:off x="4937760" y="2633472"/>
            <a:ext cx="3749040" cy="2011680"/>
          </a:xfrm>
          <a:prstGeom prst="rect">
            <a:avLst/>
          </a:prstGeom>
          <a:noFill/>
          <a:ln/>
        </p:spPr>
        <p:txBody>
          <a:bodyPr wrap="square" rtlCol="0" anchor="ctr"/>
          <a:lstStyle/>
          <a:p>
            <a:pPr marL="342900" indent="-342900">
              <a:buSzPct val="100000"/>
              <a:buChar char="•"/>
            </a:pPr>
            <a:r>
              <a:rPr lang="en-US" sz="1200" dirty="0">
                <a:solidFill>
                  <a:srgbClr val="1A1A2E"/>
                </a:solidFill>
                <a:latin typeface="Calibri" pitchFamily="34" charset="0"/>
                <a:ea typeface="Calibri" pitchFamily="34" charset="-122"/>
                <a:cs typeface="Calibri" pitchFamily="34" charset="-120"/>
              </a:rPr>
              <a:t>Filter null age &amp; BMI rows</a:t>
            </a:r>
            <a:endParaRPr lang="en-US" sz="1200" dirty="0"/>
          </a:p>
          <a:p>
            <a:pPr marL="342900" indent="-342900">
              <a:buSzPct val="100000"/>
              <a:buChar char="•"/>
            </a:pPr>
            <a:r>
              <a:rPr lang="en-US" sz="1200" dirty="0">
                <a:solidFill>
                  <a:srgbClr val="1A1A2E"/>
                </a:solidFill>
                <a:latin typeface="Calibri" pitchFamily="34" charset="0"/>
                <a:ea typeface="Calibri" pitchFamily="34" charset="-122"/>
                <a:cs typeface="Calibri" pitchFamily="34" charset="-120"/>
              </a:rPr>
              <a:t>Cast age → int, bmi → double</a:t>
            </a:r>
            <a:endParaRPr lang="en-US" sz="1200" dirty="0"/>
          </a:p>
          <a:p>
            <a:pPr marL="342900" indent="-342900">
              <a:buSzPct val="100000"/>
              <a:buChar char="•"/>
            </a:pPr>
            <a:r>
              <a:rPr lang="en-US" sz="1200" dirty="0">
                <a:solidFill>
                  <a:srgbClr val="1A1A2E"/>
                </a:solidFill>
                <a:latin typeface="Calibri" pitchFamily="34" charset="0"/>
                <a:ea typeface="Calibri" pitchFamily="34" charset="-122"/>
                <a:cs typeface="Calibri" pitchFamily="34" charset="-120"/>
              </a:rPr>
              <a:t>Cast diabetes → int (0/1)</a:t>
            </a:r>
            <a:endParaRPr lang="en-US" sz="1200" dirty="0"/>
          </a:p>
          <a:p>
            <a:pPr marL="342900" indent="-342900">
              <a:buSzPct val="100000"/>
              <a:buChar char="•"/>
            </a:pPr>
            <a:r>
              <a:rPr lang="en-US" sz="1200" dirty="0">
                <a:solidFill>
                  <a:srgbClr val="1A1A2E"/>
                </a:solidFill>
                <a:latin typeface="Calibri" pitchFamily="34" charset="0"/>
                <a:ea typeface="Calibri" pitchFamily="34" charset="-122"/>
                <a:cs typeface="Calibri" pitchFamily="34" charset="-120"/>
              </a:rPr>
              <a:t>Cast blood_glucose → double</a:t>
            </a:r>
            <a:endParaRPr lang="en-US" sz="1200" dirty="0"/>
          </a:p>
          <a:p>
            <a:pPr marL="342900" indent="-342900">
              <a:buSzPct val="100000"/>
              <a:buChar char="•"/>
            </a:pPr>
            <a:r>
              <a:rPr lang="en-US" sz="1200" dirty="0">
                <a:solidFill>
                  <a:srgbClr val="1A1A2E"/>
                </a:solidFill>
                <a:latin typeface="Calibri" pitchFamily="34" charset="0"/>
                <a:ea typeface="Calibri" pitchFamily="34" charset="-122"/>
                <a:cs typeface="Calibri" pitchFamily="34" charset="-120"/>
              </a:rPr>
              <a:t>Cache DataFrame for performance</a:t>
            </a:r>
            <a:endParaRPr lang="en-US" sz="1200" dirty="0"/>
          </a:p>
          <a:p>
            <a:pPr marL="342900" indent="-342900">
              <a:buSzPct val="100000"/>
              <a:buChar char="•"/>
            </a:pPr>
            <a:r>
              <a:rPr lang="en-US" sz="1200" dirty="0">
                <a:solidFill>
                  <a:srgbClr val="1A1A2E"/>
                </a:solidFill>
                <a:latin typeface="Calibri" pitchFamily="34" charset="0"/>
                <a:ea typeface="Calibri" pitchFamily="34" charset="-122"/>
                <a:cs typeface="Calibri" pitchFamily="34" charset="-120"/>
              </a:rPr>
              <a:t>Save to Parquet for reuse</a:t>
            </a:r>
            <a:endParaRPr lang="en-US" sz="1200" dirty="0"/>
          </a:p>
        </p:txBody>
      </p:sp>
      <p:sp>
        <p:nvSpPr>
          <p:cNvPr id="28" name="Shape 26"/>
          <p:cNvSpPr/>
          <p:nvPr/>
        </p:nvSpPr>
        <p:spPr>
          <a:xfrm>
            <a:off x="0" y="4846320"/>
            <a:ext cx="9144000" cy="297180"/>
          </a:xfrm>
          <a:prstGeom prst="rect">
            <a:avLst/>
          </a:prstGeom>
          <a:solidFill>
            <a:srgbClr val="028090"/>
          </a:solidFill>
          <a:ln w="12700">
            <a:solidFill>
              <a:srgbClr val="028090"/>
            </a:solidFill>
            <a:prstDash val="solid"/>
          </a:ln>
        </p:spPr>
        <p:txBody>
          <a:bodyPr/>
          <a:lstStyle/>
          <a:p>
            <a:endParaRPr lang="en-US"/>
          </a:p>
        </p:txBody>
      </p:sp>
      <p:sp>
        <p:nvSpPr>
          <p:cNvPr id="29" name="Text 27"/>
          <p:cNvSpPr/>
          <p:nvPr/>
        </p:nvSpPr>
        <p:spPr>
          <a:xfrm>
            <a:off x="274320" y="4846320"/>
            <a:ext cx="8229600" cy="29718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Group 11  |  Diabetes Big Data Pipeline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2137"/>
          </a:solidFill>
          <a:ln w="12700">
            <a:solidFill>
              <a:srgbClr val="0D2137"/>
            </a:solidFill>
            <a:prstDash val="solid"/>
          </a:ln>
        </p:spPr>
        <p:txBody>
          <a:bodyPr/>
          <a:lstStyle/>
          <a:p>
            <a:endParaRPr lang="en-US"/>
          </a:p>
        </p:txBody>
      </p:sp>
      <p:sp>
        <p:nvSpPr>
          <p:cNvPr id="3" name="Text 1"/>
          <p:cNvSpPr/>
          <p:nvPr/>
        </p:nvSpPr>
        <p:spPr>
          <a:xfrm>
            <a:off x="365760" y="0"/>
            <a:ext cx="8229600" cy="82296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Spark SQL Analysis</a:t>
            </a:r>
            <a:endParaRPr lang="en-US" sz="2600" dirty="0"/>
          </a:p>
        </p:txBody>
      </p:sp>
      <p:sp>
        <p:nvSpPr>
          <p:cNvPr id="4" name="Shape 2"/>
          <p:cNvSpPr/>
          <p:nvPr/>
        </p:nvSpPr>
        <p:spPr>
          <a:xfrm>
            <a:off x="274320" y="960120"/>
            <a:ext cx="8595360" cy="1691640"/>
          </a:xfrm>
          <a:prstGeom prst="rect">
            <a:avLst/>
          </a:prstGeom>
          <a:solidFill>
            <a:srgbClr val="FFFFFF"/>
          </a:solidFill>
          <a:ln w="12700">
            <a:solidFill>
              <a:srgbClr val="D0E8EC"/>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274320" y="960120"/>
            <a:ext cx="73152" cy="1691640"/>
          </a:xfrm>
          <a:prstGeom prst="rect">
            <a:avLst/>
          </a:prstGeom>
          <a:solidFill>
            <a:srgbClr val="028090"/>
          </a:solidFill>
          <a:ln w="12700">
            <a:solidFill>
              <a:srgbClr val="028090"/>
            </a:solidFill>
            <a:prstDash val="solid"/>
          </a:ln>
        </p:spPr>
        <p:txBody>
          <a:bodyPr/>
          <a:lstStyle/>
          <a:p>
            <a:endParaRPr lang="en-US"/>
          </a:p>
        </p:txBody>
      </p:sp>
      <p:sp>
        <p:nvSpPr>
          <p:cNvPr id="6" name="Text 4"/>
          <p:cNvSpPr/>
          <p:nvPr/>
        </p:nvSpPr>
        <p:spPr>
          <a:xfrm>
            <a:off x="457200" y="1005840"/>
            <a:ext cx="7772400" cy="347472"/>
          </a:xfrm>
          <a:prstGeom prst="rect">
            <a:avLst/>
          </a:prstGeom>
          <a:noFill/>
          <a:ln/>
        </p:spPr>
        <p:txBody>
          <a:bodyPr wrap="square" lIns="0" tIns="0" rIns="0" bIns="0" rtlCol="0" anchor="ctr"/>
          <a:lstStyle/>
          <a:p>
            <a:pPr marL="0" indent="0">
              <a:buNone/>
            </a:pPr>
            <a:r>
              <a:rPr lang="en-US" sz="1400" b="1" dirty="0">
                <a:solidFill>
                  <a:srgbClr val="028090"/>
                </a:solidFill>
                <a:latin typeface="Calibri" pitchFamily="34" charset="0"/>
                <a:ea typeface="Calibri" pitchFamily="34" charset="-122"/>
                <a:cs typeface="Calibri" pitchFamily="34" charset="-120"/>
              </a:rPr>
              <a:t>Query 1: Diabetes Rate by Location</a:t>
            </a:r>
            <a:endParaRPr lang="en-US" sz="1400" dirty="0"/>
          </a:p>
        </p:txBody>
      </p:sp>
      <p:sp>
        <p:nvSpPr>
          <p:cNvPr id="7" name="Text 5"/>
          <p:cNvSpPr/>
          <p:nvPr/>
        </p:nvSpPr>
        <p:spPr>
          <a:xfrm>
            <a:off x="457200" y="1389888"/>
            <a:ext cx="8229600" cy="1188720"/>
          </a:xfrm>
          <a:prstGeom prst="rect">
            <a:avLst/>
          </a:prstGeom>
          <a:noFill/>
          <a:ln/>
        </p:spPr>
        <p:txBody>
          <a:bodyPr wrap="square" lIns="50800" tIns="50800" rIns="50800" bIns="5080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Group by location → calculate total patients, avg BMI, and diabetes percentage</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Top result: Delaware (9.82%)  •  Kansas (9.77%)  •  Illinois (9.58%)</a:t>
            </a:r>
            <a:endParaRPr lang="en-US" sz="1200" dirty="0"/>
          </a:p>
        </p:txBody>
      </p:sp>
      <p:sp>
        <p:nvSpPr>
          <p:cNvPr id="8" name="Shape 6"/>
          <p:cNvSpPr/>
          <p:nvPr/>
        </p:nvSpPr>
        <p:spPr>
          <a:xfrm>
            <a:off x="274320" y="2788920"/>
            <a:ext cx="8595360" cy="1828800"/>
          </a:xfrm>
          <a:prstGeom prst="rect">
            <a:avLst/>
          </a:prstGeom>
          <a:solidFill>
            <a:srgbClr val="FFFFFF"/>
          </a:solidFill>
          <a:ln w="12700">
            <a:solidFill>
              <a:srgbClr val="D0E8EC"/>
            </a:solidFill>
            <a:prstDash val="solid"/>
          </a:ln>
          <a:effectLst>
            <a:outerShdw blurRad="101600" dist="38100" dir="8100000" algn="bl" rotWithShape="0">
              <a:srgbClr val="000000">
                <a:alpha val="12000"/>
              </a:srgbClr>
            </a:outerShdw>
          </a:effectLst>
        </p:spPr>
        <p:txBody>
          <a:bodyPr/>
          <a:lstStyle/>
          <a:p>
            <a:endParaRPr lang="en-US"/>
          </a:p>
        </p:txBody>
      </p:sp>
      <p:sp>
        <p:nvSpPr>
          <p:cNvPr id="9" name="Shape 7"/>
          <p:cNvSpPr/>
          <p:nvPr/>
        </p:nvSpPr>
        <p:spPr>
          <a:xfrm>
            <a:off x="274320" y="2788920"/>
            <a:ext cx="73152" cy="1828800"/>
          </a:xfrm>
          <a:prstGeom prst="rect">
            <a:avLst/>
          </a:prstGeom>
          <a:solidFill>
            <a:srgbClr val="F96167"/>
          </a:solidFill>
          <a:ln w="12700">
            <a:solidFill>
              <a:srgbClr val="F96167"/>
            </a:solidFill>
            <a:prstDash val="solid"/>
          </a:ln>
        </p:spPr>
        <p:txBody>
          <a:bodyPr/>
          <a:lstStyle/>
          <a:p>
            <a:endParaRPr lang="en-US"/>
          </a:p>
        </p:txBody>
      </p:sp>
      <p:sp>
        <p:nvSpPr>
          <p:cNvPr id="10" name="Text 8"/>
          <p:cNvSpPr/>
          <p:nvPr/>
        </p:nvSpPr>
        <p:spPr>
          <a:xfrm>
            <a:off x="457200" y="2834640"/>
            <a:ext cx="7772400" cy="347472"/>
          </a:xfrm>
          <a:prstGeom prst="rect">
            <a:avLst/>
          </a:prstGeom>
          <a:noFill/>
          <a:ln/>
        </p:spPr>
        <p:txBody>
          <a:bodyPr wrap="square" lIns="0" tIns="0" rIns="0" bIns="0" rtlCol="0" anchor="ctr"/>
          <a:lstStyle/>
          <a:p>
            <a:pPr marL="0" indent="0">
              <a:buNone/>
            </a:pPr>
            <a:r>
              <a:rPr lang="en-US" sz="1400" b="1" dirty="0">
                <a:solidFill>
                  <a:srgbClr val="F96167"/>
                </a:solidFill>
                <a:latin typeface="Calibri" pitchFamily="34" charset="0"/>
                <a:ea typeface="Calibri" pitchFamily="34" charset="-122"/>
                <a:cs typeface="Calibri" pitchFamily="34" charset="-120"/>
              </a:rPr>
              <a:t>Query 2: Age Group Breakdown</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3218688"/>
          <a:ext cx="8229600" cy="1295400"/>
        </p:xfrm>
        <a:graphic>
          <a:graphicData uri="http://schemas.openxmlformats.org/drawingml/2006/table">
            <a:tbl>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256032">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Age Group</a:t>
                      </a:r>
                      <a:endParaRPr lang="en-US" sz="1100" dirty="0">
                        <a:latin typeface="Calibri" charset="0"/>
                        <a:ea typeface="Calibri" charset="0"/>
                        <a:cs typeface="Calibri" charset="0"/>
                      </a:endParaRPr>
                    </a:p>
                  </a:txBody>
                  <a:tcPr>
                    <a:lnL w="6350" cap="flat" cmpd="sng" algn="ctr">
                      <a:solidFill>
                        <a:srgbClr val="D0E8EC"/>
                      </a:solidFill>
                      <a:prstDash val="solid"/>
                      <a:round/>
                      <a:headEnd type="none" w="med" len="med"/>
                      <a:tailEnd type="none" w="med" len="med"/>
                    </a:lnL>
                    <a:lnR w="6350" cap="flat" cmpd="sng" algn="ctr">
                      <a:solidFill>
                        <a:srgbClr val="D0E8EC"/>
                      </a:solidFill>
                      <a:prstDash val="solid"/>
                      <a:round/>
                      <a:headEnd type="none" w="med" len="med"/>
                      <a:tailEnd type="none" w="med" len="med"/>
                    </a:lnR>
                    <a:lnT w="6350" cap="flat" cmpd="sng" algn="ctr">
                      <a:solidFill>
                        <a:srgbClr val="D0E8EC"/>
                      </a:solidFill>
                      <a:prstDash val="solid"/>
                      <a:round/>
                      <a:headEnd type="none" w="med" len="med"/>
                      <a:tailEnd type="none" w="med" len="med"/>
                    </a:lnT>
                    <a:lnB w="6350" cap="flat" cmpd="sng" algn="ctr">
                      <a:solidFill>
                        <a:srgbClr val="D0E8EC"/>
                      </a:solidFill>
                      <a:prstDash val="solid"/>
                      <a:round/>
                      <a:headEnd type="none" w="med" len="med"/>
                      <a:tailEnd type="none" w="med" len="med"/>
                    </a:lnB>
                    <a:solidFill>
                      <a:srgbClr val="F8FEF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Total</a:t>
                      </a:r>
                      <a:endParaRPr lang="en-US" sz="1100" dirty="0">
                        <a:latin typeface="Calibri" charset="0"/>
                        <a:ea typeface="Calibri" charset="0"/>
                        <a:cs typeface="Calibri" charset="0"/>
                      </a:endParaRPr>
                    </a:p>
                  </a:txBody>
                  <a:tcPr>
                    <a:lnL w="6350" cap="flat" cmpd="sng" algn="ctr">
                      <a:solidFill>
                        <a:srgbClr val="D0E8EC"/>
                      </a:solidFill>
                      <a:prstDash val="solid"/>
                      <a:round/>
                      <a:headEnd type="none" w="med" len="med"/>
                      <a:tailEnd type="none" w="med" len="med"/>
                    </a:lnL>
                    <a:lnR w="6350" cap="flat" cmpd="sng" algn="ctr">
                      <a:solidFill>
                        <a:srgbClr val="D0E8EC"/>
                      </a:solidFill>
                      <a:prstDash val="solid"/>
                      <a:round/>
                      <a:headEnd type="none" w="med" len="med"/>
                      <a:tailEnd type="none" w="med" len="med"/>
                    </a:lnR>
                    <a:lnT w="6350" cap="flat" cmpd="sng" algn="ctr">
                      <a:solidFill>
                        <a:srgbClr val="D0E8EC"/>
                      </a:solidFill>
                      <a:prstDash val="solid"/>
                      <a:round/>
                      <a:headEnd type="none" w="med" len="med"/>
                      <a:tailEnd type="none" w="med" len="med"/>
                    </a:lnT>
                    <a:lnB w="6350" cap="flat" cmpd="sng" algn="ctr">
                      <a:solidFill>
                        <a:srgbClr val="D0E8EC"/>
                      </a:solidFill>
                      <a:prstDash val="solid"/>
                      <a:round/>
                      <a:headEnd type="none" w="med" len="med"/>
                      <a:tailEnd type="none" w="med" len="med"/>
                    </a:lnB>
                    <a:solidFill>
                      <a:srgbClr val="F8FEF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Diabetes %</a:t>
                      </a:r>
                      <a:endParaRPr lang="en-US" sz="1100" dirty="0">
                        <a:latin typeface="Calibri" charset="0"/>
                        <a:ea typeface="Calibri" charset="0"/>
                        <a:cs typeface="Calibri" charset="0"/>
                      </a:endParaRPr>
                    </a:p>
                  </a:txBody>
                  <a:tcPr>
                    <a:lnL w="6350" cap="flat" cmpd="sng" algn="ctr">
                      <a:solidFill>
                        <a:srgbClr val="D0E8EC"/>
                      </a:solidFill>
                      <a:prstDash val="solid"/>
                      <a:round/>
                      <a:headEnd type="none" w="med" len="med"/>
                      <a:tailEnd type="none" w="med" len="med"/>
                    </a:lnL>
                    <a:lnR w="6350" cap="flat" cmpd="sng" algn="ctr">
                      <a:solidFill>
                        <a:srgbClr val="D0E8EC"/>
                      </a:solidFill>
                      <a:prstDash val="solid"/>
                      <a:round/>
                      <a:headEnd type="none" w="med" len="med"/>
                      <a:tailEnd type="none" w="med" len="med"/>
                    </a:lnR>
                    <a:lnT w="6350" cap="flat" cmpd="sng" algn="ctr">
                      <a:solidFill>
                        <a:srgbClr val="D0E8EC"/>
                      </a:solidFill>
                      <a:prstDash val="solid"/>
                      <a:round/>
                      <a:headEnd type="none" w="med" len="med"/>
                      <a:tailEnd type="none" w="med" len="med"/>
                    </a:lnT>
                    <a:lnB w="6350" cap="flat" cmpd="sng" algn="ctr">
                      <a:solidFill>
                        <a:srgbClr val="D0E8EC"/>
                      </a:solidFill>
                      <a:prstDash val="solid"/>
                      <a:round/>
                      <a:headEnd type="none" w="med" len="med"/>
                      <a:tailEnd type="none" w="med" len="med"/>
                    </a:lnB>
                    <a:solidFill>
                      <a:srgbClr val="F8FEF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Avg BMI</a:t>
                      </a:r>
                      <a:endParaRPr lang="en-US" sz="1100" dirty="0">
                        <a:latin typeface="Calibri" charset="0"/>
                        <a:ea typeface="Calibri" charset="0"/>
                        <a:cs typeface="Calibri" charset="0"/>
                      </a:endParaRPr>
                    </a:p>
                  </a:txBody>
                  <a:tcPr>
                    <a:lnL w="6350" cap="flat" cmpd="sng" algn="ctr">
                      <a:solidFill>
                        <a:srgbClr val="D0E8EC"/>
                      </a:solidFill>
                      <a:prstDash val="solid"/>
                      <a:round/>
                      <a:headEnd type="none" w="med" len="med"/>
                      <a:tailEnd type="none" w="med" len="med"/>
                    </a:lnL>
                    <a:lnR w="6350" cap="flat" cmpd="sng" algn="ctr">
                      <a:solidFill>
                        <a:srgbClr val="D0E8EC"/>
                      </a:solidFill>
                      <a:prstDash val="solid"/>
                      <a:round/>
                      <a:headEnd type="none" w="med" len="med"/>
                      <a:tailEnd type="none" w="med" len="med"/>
                    </a:lnR>
                    <a:lnT w="6350" cap="flat" cmpd="sng" algn="ctr">
                      <a:solidFill>
                        <a:srgbClr val="D0E8EC"/>
                      </a:solidFill>
                      <a:prstDash val="solid"/>
                      <a:round/>
                      <a:headEnd type="none" w="med" len="med"/>
                      <a:tailEnd type="none" w="med" len="med"/>
                    </a:lnT>
                    <a:lnB w="6350" cap="flat" cmpd="sng" algn="ctr">
                      <a:solidFill>
                        <a:srgbClr val="D0E8EC"/>
                      </a:solidFill>
                      <a:prstDash val="solid"/>
                      <a:round/>
                      <a:headEnd type="none" w="med" len="med"/>
                      <a:tailEnd type="none" w="med" len="med"/>
                    </a:lnB>
                    <a:solidFill>
                      <a:srgbClr val="F8FEFF"/>
                    </a:solidFill>
                  </a:tcPr>
                </a:tc>
                <a:extLst>
                  <a:ext uri="{0D108BD9-81ED-4DB2-BD59-A6C34878D82A}">
                    <a16:rowId xmlns:a16="http://schemas.microsoft.com/office/drawing/2014/main" val="10000"/>
                  </a:ext>
                </a:extLst>
              </a:tr>
              <a:tr h="256032">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Under 30</a:t>
                      </a:r>
                      <a:endParaRPr lang="en-US" sz="1100" dirty="0">
                        <a:latin typeface="Calibri" charset="0"/>
                        <a:ea typeface="Calibri" charset="0"/>
                        <a:cs typeface="Calibri" charset="0"/>
                      </a:endParaRPr>
                    </a:p>
                  </a:txBody>
                  <a:tcPr>
                    <a:lnL w="6350" cap="flat" cmpd="sng" algn="ctr">
                      <a:solidFill>
                        <a:srgbClr val="D0E8EC"/>
                      </a:solidFill>
                      <a:prstDash val="solid"/>
                      <a:round/>
                      <a:headEnd type="none" w="med" len="med"/>
                      <a:tailEnd type="none" w="med" len="med"/>
                    </a:lnL>
                    <a:lnR w="6350" cap="flat" cmpd="sng" algn="ctr">
                      <a:solidFill>
                        <a:srgbClr val="D0E8EC"/>
                      </a:solidFill>
                      <a:prstDash val="solid"/>
                      <a:round/>
                      <a:headEnd type="none" w="med" len="med"/>
                      <a:tailEnd type="none" w="med" len="med"/>
                    </a:lnR>
                    <a:lnT w="6350" cap="flat" cmpd="sng" algn="ctr">
                      <a:solidFill>
                        <a:srgbClr val="D0E8EC"/>
                      </a:solidFill>
                      <a:prstDash val="solid"/>
                      <a:round/>
                      <a:headEnd type="none" w="med" len="med"/>
                      <a:tailEnd type="none" w="med" len="med"/>
                    </a:lnT>
                    <a:lnB w="6350" cap="flat" cmpd="sng" algn="ctr">
                      <a:solidFill>
                        <a:srgbClr val="D0E8EC"/>
                      </a:solidFill>
                      <a:prstDash val="solid"/>
                      <a:round/>
                      <a:headEnd type="none" w="med" len="med"/>
                      <a:tailEnd type="none" w="med" len="med"/>
                    </a:lnB>
                    <a:solidFill>
                      <a:srgbClr val="F8FE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32,435</a:t>
                      </a:r>
                      <a:endParaRPr lang="en-US" sz="1100" dirty="0">
                        <a:latin typeface="Calibri" charset="0"/>
                        <a:ea typeface="Calibri" charset="0"/>
                        <a:cs typeface="Calibri" charset="0"/>
                      </a:endParaRPr>
                    </a:p>
                  </a:txBody>
                  <a:tcPr>
                    <a:lnL w="6350" cap="flat" cmpd="sng" algn="ctr">
                      <a:solidFill>
                        <a:srgbClr val="D0E8EC"/>
                      </a:solidFill>
                      <a:prstDash val="solid"/>
                      <a:round/>
                      <a:headEnd type="none" w="med" len="med"/>
                      <a:tailEnd type="none" w="med" len="med"/>
                    </a:lnL>
                    <a:lnR w="6350" cap="flat" cmpd="sng" algn="ctr">
                      <a:solidFill>
                        <a:srgbClr val="D0E8EC"/>
                      </a:solidFill>
                      <a:prstDash val="solid"/>
                      <a:round/>
                      <a:headEnd type="none" w="med" len="med"/>
                      <a:tailEnd type="none" w="med" len="med"/>
                    </a:lnR>
                    <a:lnT w="6350" cap="flat" cmpd="sng" algn="ctr">
                      <a:solidFill>
                        <a:srgbClr val="D0E8EC"/>
                      </a:solidFill>
                      <a:prstDash val="solid"/>
                      <a:round/>
                      <a:headEnd type="none" w="med" len="med"/>
                      <a:tailEnd type="none" w="med" len="med"/>
                    </a:lnT>
                    <a:lnB w="6350" cap="flat" cmpd="sng" algn="ctr">
                      <a:solidFill>
                        <a:srgbClr val="D0E8EC"/>
                      </a:solidFill>
                      <a:prstDash val="solid"/>
                      <a:round/>
                      <a:headEnd type="none" w="med" len="med"/>
                      <a:tailEnd type="none" w="med" len="med"/>
                    </a:lnB>
                    <a:solidFill>
                      <a:srgbClr val="F8FE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0.84%</a:t>
                      </a:r>
                      <a:endParaRPr lang="en-US" sz="1100" dirty="0">
                        <a:latin typeface="Calibri" charset="0"/>
                        <a:ea typeface="Calibri" charset="0"/>
                        <a:cs typeface="Calibri" charset="0"/>
                      </a:endParaRPr>
                    </a:p>
                  </a:txBody>
                  <a:tcPr>
                    <a:lnL w="6350" cap="flat" cmpd="sng" algn="ctr">
                      <a:solidFill>
                        <a:srgbClr val="D0E8EC"/>
                      </a:solidFill>
                      <a:prstDash val="solid"/>
                      <a:round/>
                      <a:headEnd type="none" w="med" len="med"/>
                      <a:tailEnd type="none" w="med" len="med"/>
                    </a:lnL>
                    <a:lnR w="6350" cap="flat" cmpd="sng" algn="ctr">
                      <a:solidFill>
                        <a:srgbClr val="D0E8EC"/>
                      </a:solidFill>
                      <a:prstDash val="solid"/>
                      <a:round/>
                      <a:headEnd type="none" w="med" len="med"/>
                      <a:tailEnd type="none" w="med" len="med"/>
                    </a:lnR>
                    <a:lnT w="6350" cap="flat" cmpd="sng" algn="ctr">
                      <a:solidFill>
                        <a:srgbClr val="D0E8EC"/>
                      </a:solidFill>
                      <a:prstDash val="solid"/>
                      <a:round/>
                      <a:headEnd type="none" w="med" len="med"/>
                      <a:tailEnd type="none" w="med" len="med"/>
                    </a:lnT>
                    <a:lnB w="6350" cap="flat" cmpd="sng" algn="ctr">
                      <a:solidFill>
                        <a:srgbClr val="D0E8EC"/>
                      </a:solidFill>
                      <a:prstDash val="solid"/>
                      <a:round/>
                      <a:headEnd type="none" w="med" len="med"/>
                      <a:tailEnd type="none" w="med" len="med"/>
                    </a:lnB>
                    <a:solidFill>
                      <a:srgbClr val="F8FE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23.85</a:t>
                      </a:r>
                      <a:endParaRPr lang="en-US" sz="1100" dirty="0">
                        <a:latin typeface="Calibri" charset="0"/>
                        <a:ea typeface="Calibri" charset="0"/>
                        <a:cs typeface="Calibri" charset="0"/>
                      </a:endParaRPr>
                    </a:p>
                  </a:txBody>
                  <a:tcPr>
                    <a:lnL w="6350" cap="flat" cmpd="sng" algn="ctr">
                      <a:solidFill>
                        <a:srgbClr val="D0E8EC"/>
                      </a:solidFill>
                      <a:prstDash val="solid"/>
                      <a:round/>
                      <a:headEnd type="none" w="med" len="med"/>
                      <a:tailEnd type="none" w="med" len="med"/>
                    </a:lnL>
                    <a:lnR w="6350" cap="flat" cmpd="sng" algn="ctr">
                      <a:solidFill>
                        <a:srgbClr val="D0E8EC"/>
                      </a:solidFill>
                      <a:prstDash val="solid"/>
                      <a:round/>
                      <a:headEnd type="none" w="med" len="med"/>
                      <a:tailEnd type="none" w="med" len="med"/>
                    </a:lnR>
                    <a:lnT w="6350" cap="flat" cmpd="sng" algn="ctr">
                      <a:solidFill>
                        <a:srgbClr val="D0E8EC"/>
                      </a:solidFill>
                      <a:prstDash val="solid"/>
                      <a:round/>
                      <a:headEnd type="none" w="med" len="med"/>
                      <a:tailEnd type="none" w="med" len="med"/>
                    </a:lnT>
                    <a:lnB w="6350" cap="flat" cmpd="sng" algn="ctr">
                      <a:solidFill>
                        <a:srgbClr val="D0E8EC"/>
                      </a:solidFill>
                      <a:prstDash val="solid"/>
                      <a:round/>
                      <a:headEnd type="none" w="med" len="med"/>
                      <a:tailEnd type="none" w="med" len="med"/>
                    </a:lnB>
                    <a:solidFill>
                      <a:srgbClr val="F8FEFF"/>
                    </a:solidFill>
                  </a:tcPr>
                </a:tc>
                <a:extLst>
                  <a:ext uri="{0D108BD9-81ED-4DB2-BD59-A6C34878D82A}">
                    <a16:rowId xmlns:a16="http://schemas.microsoft.com/office/drawing/2014/main" val="10001"/>
                  </a:ext>
                </a:extLst>
              </a:tr>
              <a:tr h="256032">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30 – 49</a:t>
                      </a:r>
                      <a:endParaRPr lang="en-US" sz="1100" dirty="0">
                        <a:latin typeface="Calibri" charset="0"/>
                        <a:ea typeface="Calibri" charset="0"/>
                        <a:cs typeface="Calibri" charset="0"/>
                      </a:endParaRPr>
                    </a:p>
                  </a:txBody>
                  <a:tcPr>
                    <a:lnL w="6350" cap="flat" cmpd="sng" algn="ctr">
                      <a:solidFill>
                        <a:srgbClr val="D0E8EC"/>
                      </a:solidFill>
                      <a:prstDash val="solid"/>
                      <a:round/>
                      <a:headEnd type="none" w="med" len="med"/>
                      <a:tailEnd type="none" w="med" len="med"/>
                    </a:lnL>
                    <a:lnR w="6350" cap="flat" cmpd="sng" algn="ctr">
                      <a:solidFill>
                        <a:srgbClr val="D0E8EC"/>
                      </a:solidFill>
                      <a:prstDash val="solid"/>
                      <a:round/>
                      <a:headEnd type="none" w="med" len="med"/>
                      <a:tailEnd type="none" w="med" len="med"/>
                    </a:lnR>
                    <a:lnT w="6350" cap="flat" cmpd="sng" algn="ctr">
                      <a:solidFill>
                        <a:srgbClr val="D0E8EC"/>
                      </a:solidFill>
                      <a:prstDash val="solid"/>
                      <a:round/>
                      <a:headEnd type="none" w="med" len="med"/>
                      <a:tailEnd type="none" w="med" len="med"/>
                    </a:lnT>
                    <a:lnB w="6350" cap="flat" cmpd="sng" algn="ctr">
                      <a:solidFill>
                        <a:srgbClr val="D0E8EC"/>
                      </a:solidFill>
                      <a:prstDash val="solid"/>
                      <a:round/>
                      <a:headEnd type="none" w="med" len="med"/>
                      <a:tailEnd type="none" w="med" len="med"/>
                    </a:lnB>
                    <a:solidFill>
                      <a:srgbClr val="F8FE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27,647</a:t>
                      </a:r>
                      <a:endParaRPr lang="en-US" sz="1100" dirty="0">
                        <a:latin typeface="Calibri" charset="0"/>
                        <a:ea typeface="Calibri" charset="0"/>
                        <a:cs typeface="Calibri" charset="0"/>
                      </a:endParaRPr>
                    </a:p>
                  </a:txBody>
                  <a:tcPr>
                    <a:lnL w="6350" cap="flat" cmpd="sng" algn="ctr">
                      <a:solidFill>
                        <a:srgbClr val="D0E8EC"/>
                      </a:solidFill>
                      <a:prstDash val="solid"/>
                      <a:round/>
                      <a:headEnd type="none" w="med" len="med"/>
                      <a:tailEnd type="none" w="med" len="med"/>
                    </a:lnL>
                    <a:lnR w="6350" cap="flat" cmpd="sng" algn="ctr">
                      <a:solidFill>
                        <a:srgbClr val="D0E8EC"/>
                      </a:solidFill>
                      <a:prstDash val="solid"/>
                      <a:round/>
                      <a:headEnd type="none" w="med" len="med"/>
                      <a:tailEnd type="none" w="med" len="med"/>
                    </a:lnR>
                    <a:lnT w="6350" cap="flat" cmpd="sng" algn="ctr">
                      <a:solidFill>
                        <a:srgbClr val="D0E8EC"/>
                      </a:solidFill>
                      <a:prstDash val="solid"/>
                      <a:round/>
                      <a:headEnd type="none" w="med" len="med"/>
                      <a:tailEnd type="none" w="med" len="med"/>
                    </a:lnT>
                    <a:lnB w="6350" cap="flat" cmpd="sng" algn="ctr">
                      <a:solidFill>
                        <a:srgbClr val="D0E8EC"/>
                      </a:solidFill>
                      <a:prstDash val="solid"/>
                      <a:round/>
                      <a:headEnd type="none" w="med" len="med"/>
                      <a:tailEnd type="none" w="med" len="med"/>
                    </a:lnB>
                    <a:solidFill>
                      <a:srgbClr val="F8FE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5.19%</a:t>
                      </a:r>
                      <a:endParaRPr lang="en-US" sz="1100" dirty="0">
                        <a:latin typeface="Calibri" charset="0"/>
                        <a:ea typeface="Calibri" charset="0"/>
                        <a:cs typeface="Calibri" charset="0"/>
                      </a:endParaRPr>
                    </a:p>
                  </a:txBody>
                  <a:tcPr>
                    <a:lnL w="6350" cap="flat" cmpd="sng" algn="ctr">
                      <a:solidFill>
                        <a:srgbClr val="D0E8EC"/>
                      </a:solidFill>
                      <a:prstDash val="solid"/>
                      <a:round/>
                      <a:headEnd type="none" w="med" len="med"/>
                      <a:tailEnd type="none" w="med" len="med"/>
                    </a:lnL>
                    <a:lnR w="6350" cap="flat" cmpd="sng" algn="ctr">
                      <a:solidFill>
                        <a:srgbClr val="D0E8EC"/>
                      </a:solidFill>
                      <a:prstDash val="solid"/>
                      <a:round/>
                      <a:headEnd type="none" w="med" len="med"/>
                      <a:tailEnd type="none" w="med" len="med"/>
                    </a:lnR>
                    <a:lnT w="6350" cap="flat" cmpd="sng" algn="ctr">
                      <a:solidFill>
                        <a:srgbClr val="D0E8EC"/>
                      </a:solidFill>
                      <a:prstDash val="solid"/>
                      <a:round/>
                      <a:headEnd type="none" w="med" len="med"/>
                      <a:tailEnd type="none" w="med" len="med"/>
                    </a:lnT>
                    <a:lnB w="6350" cap="flat" cmpd="sng" algn="ctr">
                      <a:solidFill>
                        <a:srgbClr val="D0E8EC"/>
                      </a:solidFill>
                      <a:prstDash val="solid"/>
                      <a:round/>
                      <a:headEnd type="none" w="med" len="med"/>
                      <a:tailEnd type="none" w="med" len="med"/>
                    </a:lnB>
                    <a:solidFill>
                      <a:srgbClr val="F8FE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29.07</a:t>
                      </a:r>
                      <a:endParaRPr lang="en-US" sz="1100" dirty="0">
                        <a:latin typeface="Calibri" charset="0"/>
                        <a:ea typeface="Calibri" charset="0"/>
                        <a:cs typeface="Calibri" charset="0"/>
                      </a:endParaRPr>
                    </a:p>
                  </a:txBody>
                  <a:tcPr>
                    <a:lnL w="6350" cap="flat" cmpd="sng" algn="ctr">
                      <a:solidFill>
                        <a:srgbClr val="D0E8EC"/>
                      </a:solidFill>
                      <a:prstDash val="solid"/>
                      <a:round/>
                      <a:headEnd type="none" w="med" len="med"/>
                      <a:tailEnd type="none" w="med" len="med"/>
                    </a:lnL>
                    <a:lnR w="6350" cap="flat" cmpd="sng" algn="ctr">
                      <a:solidFill>
                        <a:srgbClr val="D0E8EC"/>
                      </a:solidFill>
                      <a:prstDash val="solid"/>
                      <a:round/>
                      <a:headEnd type="none" w="med" len="med"/>
                      <a:tailEnd type="none" w="med" len="med"/>
                    </a:lnR>
                    <a:lnT w="6350" cap="flat" cmpd="sng" algn="ctr">
                      <a:solidFill>
                        <a:srgbClr val="D0E8EC"/>
                      </a:solidFill>
                      <a:prstDash val="solid"/>
                      <a:round/>
                      <a:headEnd type="none" w="med" len="med"/>
                      <a:tailEnd type="none" w="med" len="med"/>
                    </a:lnT>
                    <a:lnB w="6350" cap="flat" cmpd="sng" algn="ctr">
                      <a:solidFill>
                        <a:srgbClr val="D0E8EC"/>
                      </a:solidFill>
                      <a:prstDash val="solid"/>
                      <a:round/>
                      <a:headEnd type="none" w="med" len="med"/>
                      <a:tailEnd type="none" w="med" len="med"/>
                    </a:lnB>
                    <a:solidFill>
                      <a:srgbClr val="F8FEFF"/>
                    </a:solidFill>
                  </a:tcPr>
                </a:tc>
                <a:extLst>
                  <a:ext uri="{0D108BD9-81ED-4DB2-BD59-A6C34878D82A}">
                    <a16:rowId xmlns:a16="http://schemas.microsoft.com/office/drawing/2014/main" val="10002"/>
                  </a:ext>
                </a:extLst>
              </a:tr>
              <a:tr h="256032">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50 – 64</a:t>
                      </a:r>
                      <a:endParaRPr lang="en-US" sz="1100" dirty="0">
                        <a:latin typeface="Calibri" charset="0"/>
                        <a:ea typeface="Calibri" charset="0"/>
                        <a:cs typeface="Calibri" charset="0"/>
                      </a:endParaRPr>
                    </a:p>
                  </a:txBody>
                  <a:tcPr>
                    <a:lnL w="6350" cap="flat" cmpd="sng" algn="ctr">
                      <a:solidFill>
                        <a:srgbClr val="D0E8EC"/>
                      </a:solidFill>
                      <a:prstDash val="solid"/>
                      <a:round/>
                      <a:headEnd type="none" w="med" len="med"/>
                      <a:tailEnd type="none" w="med" len="med"/>
                    </a:lnL>
                    <a:lnR w="6350" cap="flat" cmpd="sng" algn="ctr">
                      <a:solidFill>
                        <a:srgbClr val="D0E8EC"/>
                      </a:solidFill>
                      <a:prstDash val="solid"/>
                      <a:round/>
                      <a:headEnd type="none" w="med" len="med"/>
                      <a:tailEnd type="none" w="med" len="med"/>
                    </a:lnR>
                    <a:lnT w="6350" cap="flat" cmpd="sng" algn="ctr">
                      <a:solidFill>
                        <a:srgbClr val="D0E8EC"/>
                      </a:solidFill>
                      <a:prstDash val="solid"/>
                      <a:round/>
                      <a:headEnd type="none" w="med" len="med"/>
                      <a:tailEnd type="none" w="med" len="med"/>
                    </a:lnT>
                    <a:lnB w="6350" cap="flat" cmpd="sng" algn="ctr">
                      <a:solidFill>
                        <a:srgbClr val="D0E8EC"/>
                      </a:solidFill>
                      <a:prstDash val="solid"/>
                      <a:round/>
                      <a:headEnd type="none" w="med" len="med"/>
                      <a:tailEnd type="none" w="med" len="med"/>
                    </a:lnB>
                    <a:solidFill>
                      <a:srgbClr val="F8FE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21,350</a:t>
                      </a:r>
                      <a:endParaRPr lang="en-US" sz="1100" dirty="0">
                        <a:latin typeface="Calibri" charset="0"/>
                        <a:ea typeface="Calibri" charset="0"/>
                        <a:cs typeface="Calibri" charset="0"/>
                      </a:endParaRPr>
                    </a:p>
                  </a:txBody>
                  <a:tcPr>
                    <a:lnL w="6350" cap="flat" cmpd="sng" algn="ctr">
                      <a:solidFill>
                        <a:srgbClr val="D0E8EC"/>
                      </a:solidFill>
                      <a:prstDash val="solid"/>
                      <a:round/>
                      <a:headEnd type="none" w="med" len="med"/>
                      <a:tailEnd type="none" w="med" len="med"/>
                    </a:lnL>
                    <a:lnR w="6350" cap="flat" cmpd="sng" algn="ctr">
                      <a:solidFill>
                        <a:srgbClr val="D0E8EC"/>
                      </a:solidFill>
                      <a:prstDash val="solid"/>
                      <a:round/>
                      <a:headEnd type="none" w="med" len="med"/>
                      <a:tailEnd type="none" w="med" len="med"/>
                    </a:lnR>
                    <a:lnT w="6350" cap="flat" cmpd="sng" algn="ctr">
                      <a:solidFill>
                        <a:srgbClr val="D0E8EC"/>
                      </a:solidFill>
                      <a:prstDash val="solid"/>
                      <a:round/>
                      <a:headEnd type="none" w="med" len="med"/>
                      <a:tailEnd type="none" w="med" len="med"/>
                    </a:lnT>
                    <a:lnB w="6350" cap="flat" cmpd="sng" algn="ctr">
                      <a:solidFill>
                        <a:srgbClr val="D0E8EC"/>
                      </a:solidFill>
                      <a:prstDash val="solid"/>
                      <a:round/>
                      <a:headEnd type="none" w="med" len="med"/>
                      <a:tailEnd type="none" w="med" len="med"/>
                    </a:lnB>
                    <a:solidFill>
                      <a:srgbClr val="F8FE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14.02%</a:t>
                      </a:r>
                      <a:endParaRPr lang="en-US" sz="1100" dirty="0">
                        <a:latin typeface="Calibri" charset="0"/>
                        <a:ea typeface="Calibri" charset="0"/>
                        <a:cs typeface="Calibri" charset="0"/>
                      </a:endParaRPr>
                    </a:p>
                  </a:txBody>
                  <a:tcPr>
                    <a:lnL w="6350" cap="flat" cmpd="sng" algn="ctr">
                      <a:solidFill>
                        <a:srgbClr val="D0E8EC"/>
                      </a:solidFill>
                      <a:prstDash val="solid"/>
                      <a:round/>
                      <a:headEnd type="none" w="med" len="med"/>
                      <a:tailEnd type="none" w="med" len="med"/>
                    </a:lnL>
                    <a:lnR w="6350" cap="flat" cmpd="sng" algn="ctr">
                      <a:solidFill>
                        <a:srgbClr val="D0E8EC"/>
                      </a:solidFill>
                      <a:prstDash val="solid"/>
                      <a:round/>
                      <a:headEnd type="none" w="med" len="med"/>
                      <a:tailEnd type="none" w="med" len="med"/>
                    </a:lnR>
                    <a:lnT w="6350" cap="flat" cmpd="sng" algn="ctr">
                      <a:solidFill>
                        <a:srgbClr val="D0E8EC"/>
                      </a:solidFill>
                      <a:prstDash val="solid"/>
                      <a:round/>
                      <a:headEnd type="none" w="med" len="med"/>
                      <a:tailEnd type="none" w="med" len="med"/>
                    </a:lnT>
                    <a:lnB w="6350" cap="flat" cmpd="sng" algn="ctr">
                      <a:solidFill>
                        <a:srgbClr val="D0E8EC"/>
                      </a:solidFill>
                      <a:prstDash val="solid"/>
                      <a:round/>
                      <a:headEnd type="none" w="med" len="med"/>
                      <a:tailEnd type="none" w="med" len="med"/>
                    </a:lnB>
                    <a:solidFill>
                      <a:srgbClr val="F8FE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29.60</a:t>
                      </a:r>
                      <a:endParaRPr lang="en-US" sz="1100" dirty="0">
                        <a:latin typeface="Calibri" charset="0"/>
                        <a:ea typeface="Calibri" charset="0"/>
                        <a:cs typeface="Calibri" charset="0"/>
                      </a:endParaRPr>
                    </a:p>
                  </a:txBody>
                  <a:tcPr>
                    <a:lnL w="6350" cap="flat" cmpd="sng" algn="ctr">
                      <a:solidFill>
                        <a:srgbClr val="D0E8EC"/>
                      </a:solidFill>
                      <a:prstDash val="solid"/>
                      <a:round/>
                      <a:headEnd type="none" w="med" len="med"/>
                      <a:tailEnd type="none" w="med" len="med"/>
                    </a:lnL>
                    <a:lnR w="6350" cap="flat" cmpd="sng" algn="ctr">
                      <a:solidFill>
                        <a:srgbClr val="D0E8EC"/>
                      </a:solidFill>
                      <a:prstDash val="solid"/>
                      <a:round/>
                      <a:headEnd type="none" w="med" len="med"/>
                      <a:tailEnd type="none" w="med" len="med"/>
                    </a:lnR>
                    <a:lnT w="6350" cap="flat" cmpd="sng" algn="ctr">
                      <a:solidFill>
                        <a:srgbClr val="D0E8EC"/>
                      </a:solidFill>
                      <a:prstDash val="solid"/>
                      <a:round/>
                      <a:headEnd type="none" w="med" len="med"/>
                      <a:tailEnd type="none" w="med" len="med"/>
                    </a:lnT>
                    <a:lnB w="6350" cap="flat" cmpd="sng" algn="ctr">
                      <a:solidFill>
                        <a:srgbClr val="D0E8EC"/>
                      </a:solidFill>
                      <a:prstDash val="solid"/>
                      <a:round/>
                      <a:headEnd type="none" w="med" len="med"/>
                      <a:tailEnd type="none" w="med" len="med"/>
                    </a:lnB>
                    <a:solidFill>
                      <a:srgbClr val="F8FEFF"/>
                    </a:solidFill>
                  </a:tcPr>
                </a:tc>
                <a:extLst>
                  <a:ext uri="{0D108BD9-81ED-4DB2-BD59-A6C34878D82A}">
                    <a16:rowId xmlns:a16="http://schemas.microsoft.com/office/drawing/2014/main" val="10003"/>
                  </a:ext>
                </a:extLst>
              </a:tr>
              <a:tr h="256032">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65+</a:t>
                      </a:r>
                      <a:endParaRPr lang="en-US" sz="1100" dirty="0">
                        <a:latin typeface="Calibri" charset="0"/>
                        <a:ea typeface="Calibri" charset="0"/>
                        <a:cs typeface="Calibri" charset="0"/>
                      </a:endParaRPr>
                    </a:p>
                  </a:txBody>
                  <a:tcPr>
                    <a:lnL w="6350" cap="flat" cmpd="sng" algn="ctr">
                      <a:solidFill>
                        <a:srgbClr val="D0E8EC"/>
                      </a:solidFill>
                      <a:prstDash val="solid"/>
                      <a:round/>
                      <a:headEnd type="none" w="med" len="med"/>
                      <a:tailEnd type="none" w="med" len="med"/>
                    </a:lnL>
                    <a:lnR w="6350" cap="flat" cmpd="sng" algn="ctr">
                      <a:solidFill>
                        <a:srgbClr val="D0E8EC"/>
                      </a:solidFill>
                      <a:prstDash val="solid"/>
                      <a:round/>
                      <a:headEnd type="none" w="med" len="med"/>
                      <a:tailEnd type="none" w="med" len="med"/>
                    </a:lnR>
                    <a:lnT w="6350" cap="flat" cmpd="sng" algn="ctr">
                      <a:solidFill>
                        <a:srgbClr val="D0E8EC"/>
                      </a:solidFill>
                      <a:prstDash val="solid"/>
                      <a:round/>
                      <a:headEnd type="none" w="med" len="med"/>
                      <a:tailEnd type="none" w="med" len="med"/>
                    </a:lnT>
                    <a:lnB w="6350" cap="flat" cmpd="sng" algn="ctr">
                      <a:solidFill>
                        <a:srgbClr val="D0E8EC"/>
                      </a:solidFill>
                      <a:prstDash val="solid"/>
                      <a:round/>
                      <a:headEnd type="none" w="med" len="med"/>
                      <a:tailEnd type="none" w="med" len="med"/>
                    </a:lnB>
                    <a:solidFill>
                      <a:srgbClr val="F8FE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18,568</a:t>
                      </a:r>
                      <a:endParaRPr lang="en-US" sz="1100" dirty="0">
                        <a:latin typeface="Calibri" charset="0"/>
                        <a:ea typeface="Calibri" charset="0"/>
                        <a:cs typeface="Calibri" charset="0"/>
                      </a:endParaRPr>
                    </a:p>
                  </a:txBody>
                  <a:tcPr>
                    <a:lnL w="6350" cap="flat" cmpd="sng" algn="ctr">
                      <a:solidFill>
                        <a:srgbClr val="D0E8EC"/>
                      </a:solidFill>
                      <a:prstDash val="solid"/>
                      <a:round/>
                      <a:headEnd type="none" w="med" len="med"/>
                      <a:tailEnd type="none" w="med" len="med"/>
                    </a:lnL>
                    <a:lnR w="6350" cap="flat" cmpd="sng" algn="ctr">
                      <a:solidFill>
                        <a:srgbClr val="D0E8EC"/>
                      </a:solidFill>
                      <a:prstDash val="solid"/>
                      <a:round/>
                      <a:headEnd type="none" w="med" len="med"/>
                      <a:tailEnd type="none" w="med" len="med"/>
                    </a:lnR>
                    <a:lnT w="6350" cap="flat" cmpd="sng" algn="ctr">
                      <a:solidFill>
                        <a:srgbClr val="D0E8EC"/>
                      </a:solidFill>
                      <a:prstDash val="solid"/>
                      <a:round/>
                      <a:headEnd type="none" w="med" len="med"/>
                      <a:tailEnd type="none" w="med" len="med"/>
                    </a:lnT>
                    <a:lnB w="6350" cap="flat" cmpd="sng" algn="ctr">
                      <a:solidFill>
                        <a:srgbClr val="D0E8EC"/>
                      </a:solidFill>
                      <a:prstDash val="solid"/>
                      <a:round/>
                      <a:headEnd type="none" w="med" len="med"/>
                      <a:tailEnd type="none" w="med" len="med"/>
                    </a:lnB>
                    <a:solidFill>
                      <a:srgbClr val="F8FE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20.45%</a:t>
                      </a:r>
                      <a:endParaRPr lang="en-US" sz="1100" dirty="0">
                        <a:latin typeface="Calibri" charset="0"/>
                        <a:ea typeface="Calibri" charset="0"/>
                        <a:cs typeface="Calibri" charset="0"/>
                      </a:endParaRPr>
                    </a:p>
                  </a:txBody>
                  <a:tcPr>
                    <a:lnL w="6350" cap="flat" cmpd="sng" algn="ctr">
                      <a:solidFill>
                        <a:srgbClr val="D0E8EC"/>
                      </a:solidFill>
                      <a:prstDash val="solid"/>
                      <a:round/>
                      <a:headEnd type="none" w="med" len="med"/>
                      <a:tailEnd type="none" w="med" len="med"/>
                    </a:lnL>
                    <a:lnR w="6350" cap="flat" cmpd="sng" algn="ctr">
                      <a:solidFill>
                        <a:srgbClr val="D0E8EC"/>
                      </a:solidFill>
                      <a:prstDash val="solid"/>
                      <a:round/>
                      <a:headEnd type="none" w="med" len="med"/>
                      <a:tailEnd type="none" w="med" len="med"/>
                    </a:lnR>
                    <a:lnT w="6350" cap="flat" cmpd="sng" algn="ctr">
                      <a:solidFill>
                        <a:srgbClr val="D0E8EC"/>
                      </a:solidFill>
                      <a:prstDash val="solid"/>
                      <a:round/>
                      <a:headEnd type="none" w="med" len="med"/>
                      <a:tailEnd type="none" w="med" len="med"/>
                    </a:lnT>
                    <a:lnB w="6350" cap="flat" cmpd="sng" algn="ctr">
                      <a:solidFill>
                        <a:srgbClr val="D0E8EC"/>
                      </a:solidFill>
                      <a:prstDash val="solid"/>
                      <a:round/>
                      <a:headEnd type="none" w="med" len="med"/>
                      <a:tailEnd type="none" w="med" len="med"/>
                    </a:lnB>
                    <a:solidFill>
                      <a:srgbClr val="F8FE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28.16</a:t>
                      </a:r>
                      <a:endParaRPr lang="en-US" sz="1100" dirty="0">
                        <a:latin typeface="Calibri" charset="0"/>
                        <a:ea typeface="Calibri" charset="0"/>
                        <a:cs typeface="Calibri" charset="0"/>
                      </a:endParaRPr>
                    </a:p>
                  </a:txBody>
                  <a:tcPr>
                    <a:lnL w="6350" cap="flat" cmpd="sng" algn="ctr">
                      <a:solidFill>
                        <a:srgbClr val="D0E8EC"/>
                      </a:solidFill>
                      <a:prstDash val="solid"/>
                      <a:round/>
                      <a:headEnd type="none" w="med" len="med"/>
                      <a:tailEnd type="none" w="med" len="med"/>
                    </a:lnL>
                    <a:lnR w="6350" cap="flat" cmpd="sng" algn="ctr">
                      <a:solidFill>
                        <a:srgbClr val="D0E8EC"/>
                      </a:solidFill>
                      <a:prstDash val="solid"/>
                      <a:round/>
                      <a:headEnd type="none" w="med" len="med"/>
                      <a:tailEnd type="none" w="med" len="med"/>
                    </a:lnR>
                    <a:lnT w="6350" cap="flat" cmpd="sng" algn="ctr">
                      <a:solidFill>
                        <a:srgbClr val="D0E8EC"/>
                      </a:solidFill>
                      <a:prstDash val="solid"/>
                      <a:round/>
                      <a:headEnd type="none" w="med" len="med"/>
                      <a:tailEnd type="none" w="med" len="med"/>
                    </a:lnT>
                    <a:lnB w="6350" cap="flat" cmpd="sng" algn="ctr">
                      <a:solidFill>
                        <a:srgbClr val="D0E8EC"/>
                      </a:solidFill>
                      <a:prstDash val="solid"/>
                      <a:round/>
                      <a:headEnd type="none" w="med" len="med"/>
                      <a:tailEnd type="none" w="med" len="med"/>
                    </a:lnB>
                    <a:solidFill>
                      <a:srgbClr val="F8FEFF"/>
                    </a:solidFill>
                  </a:tcPr>
                </a:tc>
                <a:extLst>
                  <a:ext uri="{0D108BD9-81ED-4DB2-BD59-A6C34878D82A}">
                    <a16:rowId xmlns:a16="http://schemas.microsoft.com/office/drawing/2014/main" val="10004"/>
                  </a:ext>
                </a:extLst>
              </a:tr>
            </a:tbl>
          </a:graphicData>
        </a:graphic>
      </p:graphicFrame>
      <p:sp>
        <p:nvSpPr>
          <p:cNvPr id="12" name="Shape 9"/>
          <p:cNvSpPr/>
          <p:nvPr/>
        </p:nvSpPr>
        <p:spPr>
          <a:xfrm>
            <a:off x="457200" y="3218688"/>
            <a:ext cx="8229600" cy="256032"/>
          </a:xfrm>
          <a:prstGeom prst="rect">
            <a:avLst/>
          </a:prstGeom>
          <a:solidFill>
            <a:srgbClr val="028090"/>
          </a:solidFill>
          <a:ln w="12700">
            <a:solidFill>
              <a:srgbClr val="028090"/>
            </a:solidFill>
            <a:prstDash val="solid"/>
          </a:ln>
        </p:spPr>
        <p:txBody>
          <a:bodyPr/>
          <a:lstStyle/>
          <a:p>
            <a:endParaRPr lang="en-US"/>
          </a:p>
        </p:txBody>
      </p:sp>
      <p:sp>
        <p:nvSpPr>
          <p:cNvPr id="13" name="Text 10"/>
          <p:cNvSpPr/>
          <p:nvPr/>
        </p:nvSpPr>
        <p:spPr>
          <a:xfrm>
            <a:off x="502920" y="3218688"/>
            <a:ext cx="81381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Age Group         Total         Diabetes %         Avg BMI</a:t>
            </a:r>
            <a:endParaRPr lang="en-US" sz="1100" dirty="0"/>
          </a:p>
        </p:txBody>
      </p:sp>
      <p:sp>
        <p:nvSpPr>
          <p:cNvPr id="14" name="Shape 11"/>
          <p:cNvSpPr/>
          <p:nvPr/>
        </p:nvSpPr>
        <p:spPr>
          <a:xfrm>
            <a:off x="0" y="4846320"/>
            <a:ext cx="9144000" cy="297180"/>
          </a:xfrm>
          <a:prstGeom prst="rect">
            <a:avLst/>
          </a:prstGeom>
          <a:solidFill>
            <a:srgbClr val="028090"/>
          </a:solidFill>
          <a:ln w="12700">
            <a:solidFill>
              <a:srgbClr val="028090"/>
            </a:solidFill>
            <a:prstDash val="solid"/>
          </a:ln>
        </p:spPr>
        <p:txBody>
          <a:bodyPr/>
          <a:lstStyle/>
          <a:p>
            <a:endParaRPr lang="en-US"/>
          </a:p>
        </p:txBody>
      </p:sp>
      <p:sp>
        <p:nvSpPr>
          <p:cNvPr id="15" name="Text 12"/>
          <p:cNvSpPr/>
          <p:nvPr/>
        </p:nvSpPr>
        <p:spPr>
          <a:xfrm>
            <a:off x="274320" y="4846320"/>
            <a:ext cx="8229600" cy="29718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Group 11  |  Diabetes Big Data Pipeline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28090"/>
          </a:solidFill>
          <a:ln w="12700">
            <a:solidFill>
              <a:srgbClr val="028090"/>
            </a:solidFill>
            <a:prstDash val="solid"/>
          </a:ln>
        </p:spPr>
        <p:txBody>
          <a:bodyPr/>
          <a:lstStyle/>
          <a:p>
            <a:endParaRPr lang="en-US"/>
          </a:p>
        </p:txBody>
      </p:sp>
      <p:sp>
        <p:nvSpPr>
          <p:cNvPr id="3" name="Text 1"/>
          <p:cNvSpPr/>
          <p:nvPr/>
        </p:nvSpPr>
        <p:spPr>
          <a:xfrm>
            <a:off x="365760" y="0"/>
            <a:ext cx="8229600" cy="82296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Advanced Analysis</a:t>
            </a:r>
            <a:endParaRPr lang="en-US" sz="2600" dirty="0"/>
          </a:p>
        </p:txBody>
      </p:sp>
      <p:sp>
        <p:nvSpPr>
          <p:cNvPr id="4" name="Shape 2"/>
          <p:cNvSpPr/>
          <p:nvPr/>
        </p:nvSpPr>
        <p:spPr>
          <a:xfrm>
            <a:off x="274320" y="960120"/>
            <a:ext cx="4023360" cy="3749040"/>
          </a:xfrm>
          <a:prstGeom prst="rect">
            <a:avLst/>
          </a:prstGeom>
          <a:solidFill>
            <a:srgbClr val="FFFFFF"/>
          </a:solidFill>
          <a:ln w="12700">
            <a:solidFill>
              <a:srgbClr val="D0E8EC"/>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274320" y="960120"/>
            <a:ext cx="4023360" cy="411480"/>
          </a:xfrm>
          <a:prstGeom prst="rect">
            <a:avLst/>
          </a:prstGeom>
          <a:solidFill>
            <a:srgbClr val="0D2137"/>
          </a:solidFill>
          <a:ln w="12700">
            <a:solidFill>
              <a:srgbClr val="0D2137"/>
            </a:solidFill>
            <a:prstDash val="solid"/>
          </a:ln>
        </p:spPr>
        <p:txBody>
          <a:bodyPr/>
          <a:lstStyle/>
          <a:p>
            <a:endParaRPr lang="en-US"/>
          </a:p>
        </p:txBody>
      </p:sp>
      <p:sp>
        <p:nvSpPr>
          <p:cNvPr id="6" name="Text 4"/>
          <p:cNvSpPr/>
          <p:nvPr/>
        </p:nvSpPr>
        <p:spPr>
          <a:xfrm>
            <a:off x="320040" y="960120"/>
            <a:ext cx="3931920" cy="411480"/>
          </a:xfrm>
          <a:prstGeom prst="rect">
            <a:avLst/>
          </a:prstGeom>
          <a:noFill/>
          <a:ln/>
        </p:spPr>
        <p:txBody>
          <a:bodyPr wrap="square" lIns="63500" tIns="63500" rIns="63500" bIns="63500" rtlCol="0" anchor="ctr"/>
          <a:lstStyle/>
          <a:p>
            <a:pPr marL="0" indent="0">
              <a:buNone/>
            </a:pPr>
            <a:r>
              <a:rPr lang="en-US" sz="1300" b="1" dirty="0">
                <a:solidFill>
                  <a:srgbClr val="02C39A"/>
                </a:solidFill>
                <a:latin typeface="Calibri" pitchFamily="34" charset="0"/>
                <a:ea typeface="Calibri" pitchFamily="34" charset="-122"/>
                <a:cs typeface="Calibri" pitchFamily="34" charset="-120"/>
              </a:rPr>
              <a:t>⚡  Window Function</a:t>
            </a:r>
            <a:endParaRPr lang="en-US" sz="1300" dirty="0"/>
          </a:p>
        </p:txBody>
      </p:sp>
      <p:sp>
        <p:nvSpPr>
          <p:cNvPr id="7" name="Text 5"/>
          <p:cNvSpPr/>
          <p:nvPr/>
        </p:nvSpPr>
        <p:spPr>
          <a:xfrm>
            <a:off x="365760" y="1444752"/>
            <a:ext cx="3749040" cy="3154680"/>
          </a:xfrm>
          <a:prstGeom prst="rect">
            <a:avLst/>
          </a:prstGeom>
          <a:noFill/>
          <a:ln/>
        </p:spPr>
        <p:txBody>
          <a:bodyPr wrap="square"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Rank patients by blood glucose level</a:t>
            </a:r>
            <a:endParaRPr lang="en-US" sz="1200" dirty="0"/>
          </a:p>
          <a:p>
            <a:pPr marL="0" indent="0">
              <a:buNone/>
            </a:pPr>
            <a:r>
              <a:rPr lang="en-US" sz="500" dirty="0">
                <a:solidFill>
                  <a:srgbClr val="1A1A2E"/>
                </a:solidFill>
                <a:latin typeface="Calibri" pitchFamily="34" charset="0"/>
                <a:ea typeface="Calibri" pitchFamily="34" charset="-122"/>
                <a:cs typeface="Calibri" pitchFamily="34" charset="-120"/>
              </a:rPr>
              <a:t>
</a:t>
            </a:r>
            <a:endParaRPr lang="en-US" sz="1200" dirty="0"/>
          </a:p>
          <a:p>
            <a:pPr marL="342900" indent="-342900">
              <a:buSzPct val="100000"/>
              <a:buChar char="•"/>
            </a:pPr>
            <a:r>
              <a:rPr lang="en-US" sz="1200" dirty="0">
                <a:solidFill>
                  <a:srgbClr val="1A1A2E"/>
                </a:solidFill>
                <a:latin typeface="Calibri" pitchFamily="34" charset="0"/>
                <a:ea typeface="Calibri" pitchFamily="34" charset="-122"/>
                <a:cs typeface="Calibri" pitchFamily="34" charset="-120"/>
              </a:rPr>
              <a:t>Partition by gender</a:t>
            </a:r>
            <a:endParaRPr lang="en-US" sz="1200" dirty="0"/>
          </a:p>
          <a:p>
            <a:pPr marL="342900" indent="-342900">
              <a:buSzPct val="100000"/>
              <a:buChar char="•"/>
            </a:pPr>
            <a:r>
              <a:rPr lang="en-US" sz="1200" dirty="0">
                <a:solidFill>
                  <a:srgbClr val="1A1A2E"/>
                </a:solidFill>
                <a:latin typeface="Calibri" pitchFamily="34" charset="0"/>
                <a:ea typeface="Calibri" pitchFamily="34" charset="-122"/>
                <a:cs typeface="Calibri" pitchFamily="34" charset="-120"/>
              </a:rPr>
              <a:t>Order by glucose (descending)</a:t>
            </a:r>
            <a:endParaRPr lang="en-US" sz="1200" dirty="0"/>
          </a:p>
          <a:p>
            <a:pPr marL="342900" indent="-342900">
              <a:buSzPct val="100000"/>
              <a:buChar char="•"/>
            </a:pPr>
            <a:r>
              <a:rPr lang="en-US" sz="1200" dirty="0">
                <a:solidFill>
                  <a:srgbClr val="1A1A2E"/>
                </a:solidFill>
                <a:latin typeface="Calibri" pitchFamily="34" charset="0"/>
                <a:ea typeface="Calibri" pitchFamily="34" charset="-122"/>
                <a:cs typeface="Calibri" pitchFamily="34" charset="-120"/>
              </a:rPr>
              <a:t>Filter top 3 per gender group</a:t>
            </a:r>
            <a:endParaRPr lang="en-US" sz="1200" dirty="0"/>
          </a:p>
          <a:p>
            <a:pPr marL="0" indent="0">
              <a:buNone/>
            </a:pPr>
            <a:r>
              <a:rPr lang="en-US" sz="500" dirty="0">
                <a:solidFill>
                  <a:srgbClr val="1A1A2E"/>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1A1A2E"/>
                </a:solidFill>
                <a:latin typeface="Calibri" pitchFamily="34" charset="0"/>
                <a:ea typeface="Calibri" pitchFamily="34" charset="-122"/>
                <a:cs typeface="Calibri" pitchFamily="34" charset="-120"/>
              </a:rPr>
              <a:t>Result: Max glucose = 300.0</a:t>
            </a:r>
            <a:endParaRPr lang="en-US" sz="1200" dirty="0"/>
          </a:p>
          <a:p>
            <a:pPr marL="0" indent="0">
              <a:buNone/>
            </a:pPr>
            <a:r>
              <a:rPr lang="en-US" sz="1200" i="1" dirty="0">
                <a:solidFill>
                  <a:srgbClr val="1A1A2E"/>
                </a:solidFill>
                <a:latin typeface="Calibri" pitchFamily="34" charset="0"/>
                <a:ea typeface="Calibri" pitchFamily="34" charset="-122"/>
                <a:cs typeface="Calibri" pitchFamily="34" charset="-120"/>
              </a:rPr>
              <a:t>All top patients have diabetes = 1</a:t>
            </a:r>
            <a:endParaRPr lang="en-US" sz="1200" dirty="0"/>
          </a:p>
          <a:p>
            <a:pPr marL="0" indent="0">
              <a:buNone/>
            </a:pPr>
            <a:r>
              <a:rPr lang="en-US" sz="1200" i="1" dirty="0">
                <a:solidFill>
                  <a:srgbClr val="1A1A2E"/>
                </a:solidFill>
                <a:latin typeface="Calibri" pitchFamily="34" charset="0"/>
                <a:ea typeface="Calibri" pitchFamily="34" charset="-122"/>
                <a:cs typeface="Calibri" pitchFamily="34" charset="-120"/>
              </a:rPr>
              <a:t>Shows strong link between high glucose &amp; diabetes</a:t>
            </a:r>
            <a:endParaRPr lang="en-US" sz="1200" dirty="0"/>
          </a:p>
        </p:txBody>
      </p:sp>
      <p:sp>
        <p:nvSpPr>
          <p:cNvPr id="8" name="Shape 6"/>
          <p:cNvSpPr/>
          <p:nvPr/>
        </p:nvSpPr>
        <p:spPr>
          <a:xfrm>
            <a:off x="4846320" y="960120"/>
            <a:ext cx="4023360" cy="3749040"/>
          </a:xfrm>
          <a:prstGeom prst="rect">
            <a:avLst/>
          </a:prstGeom>
          <a:solidFill>
            <a:srgbClr val="FFFFFF"/>
          </a:solidFill>
          <a:ln w="12700">
            <a:solidFill>
              <a:srgbClr val="D0E8EC"/>
            </a:solidFill>
            <a:prstDash val="solid"/>
          </a:ln>
          <a:effectLst>
            <a:outerShdw blurRad="101600" dist="38100" dir="8100000" algn="bl" rotWithShape="0">
              <a:srgbClr val="000000">
                <a:alpha val="12000"/>
              </a:srgbClr>
            </a:outerShdw>
          </a:effectLst>
        </p:spPr>
        <p:txBody>
          <a:bodyPr/>
          <a:lstStyle/>
          <a:p>
            <a:endParaRPr lang="en-US"/>
          </a:p>
        </p:txBody>
      </p:sp>
      <p:sp>
        <p:nvSpPr>
          <p:cNvPr id="9" name="Shape 7"/>
          <p:cNvSpPr/>
          <p:nvPr/>
        </p:nvSpPr>
        <p:spPr>
          <a:xfrm>
            <a:off x="4846320" y="960120"/>
            <a:ext cx="4023360" cy="411480"/>
          </a:xfrm>
          <a:prstGeom prst="rect">
            <a:avLst/>
          </a:prstGeom>
          <a:solidFill>
            <a:srgbClr val="0D2137"/>
          </a:solidFill>
          <a:ln w="12700">
            <a:solidFill>
              <a:srgbClr val="0D2137"/>
            </a:solidFill>
            <a:prstDash val="solid"/>
          </a:ln>
        </p:spPr>
        <p:txBody>
          <a:bodyPr/>
          <a:lstStyle/>
          <a:p>
            <a:endParaRPr lang="en-US"/>
          </a:p>
        </p:txBody>
      </p:sp>
      <p:sp>
        <p:nvSpPr>
          <p:cNvPr id="10" name="Text 8"/>
          <p:cNvSpPr/>
          <p:nvPr/>
        </p:nvSpPr>
        <p:spPr>
          <a:xfrm>
            <a:off x="4892040" y="960120"/>
            <a:ext cx="3931920" cy="411480"/>
          </a:xfrm>
          <a:prstGeom prst="rect">
            <a:avLst/>
          </a:prstGeom>
          <a:noFill/>
          <a:ln/>
        </p:spPr>
        <p:txBody>
          <a:bodyPr wrap="square" lIns="63500" tIns="63500" rIns="63500" bIns="63500" rtlCol="0" anchor="ctr"/>
          <a:lstStyle/>
          <a:p>
            <a:pPr marL="0" indent="0">
              <a:buNone/>
            </a:pPr>
            <a:r>
              <a:rPr lang="en-US" sz="1300" b="1" dirty="0">
                <a:solidFill>
                  <a:srgbClr val="F9C74F"/>
                </a:solidFill>
                <a:latin typeface="Calibri" pitchFamily="34" charset="0"/>
                <a:ea typeface="Calibri" pitchFamily="34" charset="-122"/>
                <a:cs typeface="Calibri" pitchFamily="34" charset="-120"/>
              </a:rPr>
              <a:t>🗄️  MongoDB Index Benchmark</a:t>
            </a:r>
            <a:endParaRPr lang="en-US" sz="1300" dirty="0"/>
          </a:p>
        </p:txBody>
      </p:sp>
      <p:sp>
        <p:nvSpPr>
          <p:cNvPr id="11" name="Text 9"/>
          <p:cNvSpPr/>
          <p:nvPr/>
        </p:nvSpPr>
        <p:spPr>
          <a:xfrm>
            <a:off x="4937760" y="1444752"/>
            <a:ext cx="3749040" cy="1005840"/>
          </a:xfrm>
          <a:prstGeom prst="rect">
            <a:avLst/>
          </a:prstGeom>
          <a:noFill/>
          <a:ln/>
        </p:spPr>
        <p:txBody>
          <a:bodyPr wrap="square"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Purpose: Measure impact of indexing</a:t>
            </a:r>
            <a:endParaRPr lang="en-US" sz="1200" dirty="0"/>
          </a:p>
          <a:p>
            <a:pPr marL="0" indent="0">
              <a:buNone/>
            </a:pPr>
            <a:r>
              <a:rPr lang="en-US" sz="500" dirty="0">
                <a:solidFill>
                  <a:srgbClr val="1A1A2E"/>
                </a:solidFill>
                <a:latin typeface="Calibri" pitchFamily="34" charset="0"/>
                <a:ea typeface="Calibri" pitchFamily="34" charset="-122"/>
                <a:cs typeface="Calibri" pitchFamily="34" charset="-120"/>
              </a:rPr>
              <a:t>
</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Query: find location = 'Alabama'</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Result rows: 2,036 documents</a:t>
            </a:r>
            <a:endParaRPr lang="en-US" sz="1200" dirty="0"/>
          </a:p>
        </p:txBody>
      </p:sp>
      <p:sp>
        <p:nvSpPr>
          <p:cNvPr id="12" name="Text 10"/>
          <p:cNvSpPr/>
          <p:nvPr/>
        </p:nvSpPr>
        <p:spPr>
          <a:xfrm>
            <a:off x="4937760" y="2633472"/>
            <a:ext cx="1737360" cy="32004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Without Index</a:t>
            </a:r>
            <a:endParaRPr lang="en-US" sz="1100" dirty="0"/>
          </a:p>
        </p:txBody>
      </p:sp>
      <p:sp>
        <p:nvSpPr>
          <p:cNvPr id="13" name="Shape 11"/>
          <p:cNvSpPr/>
          <p:nvPr/>
        </p:nvSpPr>
        <p:spPr>
          <a:xfrm>
            <a:off x="6720840" y="2670048"/>
            <a:ext cx="1645920" cy="246888"/>
          </a:xfrm>
          <a:prstGeom prst="rect">
            <a:avLst/>
          </a:prstGeom>
          <a:solidFill>
            <a:srgbClr val="F96167"/>
          </a:solidFill>
          <a:ln w="12700">
            <a:solidFill>
              <a:srgbClr val="F96167"/>
            </a:solidFill>
            <a:prstDash val="solid"/>
          </a:ln>
        </p:spPr>
        <p:txBody>
          <a:bodyPr/>
          <a:lstStyle/>
          <a:p>
            <a:endParaRPr lang="en-US"/>
          </a:p>
        </p:txBody>
      </p:sp>
      <p:sp>
        <p:nvSpPr>
          <p:cNvPr id="14" name="Text 12"/>
          <p:cNvSpPr/>
          <p:nvPr/>
        </p:nvSpPr>
        <p:spPr>
          <a:xfrm>
            <a:off x="8412480" y="2633472"/>
            <a:ext cx="731520" cy="320040"/>
          </a:xfrm>
          <a:prstGeom prst="rect">
            <a:avLst/>
          </a:prstGeom>
          <a:noFill/>
          <a:ln/>
        </p:spPr>
        <p:txBody>
          <a:bodyPr wrap="square" lIns="0" tIns="0" rIns="0" bIns="0" rtlCol="0" anchor="ctr"/>
          <a:lstStyle/>
          <a:p>
            <a:pPr marL="0" indent="0">
              <a:buNone/>
            </a:pPr>
            <a:r>
              <a:rPr lang="en-US" sz="1100" b="1" dirty="0">
                <a:solidFill>
                  <a:srgbClr val="F96167"/>
                </a:solidFill>
                <a:latin typeface="Calibri" pitchFamily="34" charset="0"/>
                <a:ea typeface="Calibri" pitchFamily="34" charset="-122"/>
                <a:cs typeface="Calibri" pitchFamily="34" charset="-120"/>
              </a:rPr>
              <a:t>0.0221s</a:t>
            </a:r>
            <a:endParaRPr lang="en-US" sz="1100" dirty="0"/>
          </a:p>
        </p:txBody>
      </p:sp>
      <p:sp>
        <p:nvSpPr>
          <p:cNvPr id="15" name="Text 13"/>
          <p:cNvSpPr/>
          <p:nvPr/>
        </p:nvSpPr>
        <p:spPr>
          <a:xfrm>
            <a:off x="4937760" y="3319272"/>
            <a:ext cx="1737360" cy="32004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With Index</a:t>
            </a:r>
            <a:endParaRPr lang="en-US" sz="1100" dirty="0"/>
          </a:p>
        </p:txBody>
      </p:sp>
      <p:sp>
        <p:nvSpPr>
          <p:cNvPr id="16" name="Shape 14"/>
          <p:cNvSpPr/>
          <p:nvPr/>
        </p:nvSpPr>
        <p:spPr>
          <a:xfrm>
            <a:off x="6720840" y="3355848"/>
            <a:ext cx="1514246" cy="246888"/>
          </a:xfrm>
          <a:prstGeom prst="rect">
            <a:avLst/>
          </a:prstGeom>
          <a:solidFill>
            <a:srgbClr val="02C39A"/>
          </a:solidFill>
          <a:ln w="12700">
            <a:solidFill>
              <a:srgbClr val="02C39A"/>
            </a:solidFill>
            <a:prstDash val="solid"/>
          </a:ln>
        </p:spPr>
        <p:txBody>
          <a:bodyPr/>
          <a:lstStyle/>
          <a:p>
            <a:endParaRPr lang="en-US"/>
          </a:p>
        </p:txBody>
      </p:sp>
      <p:sp>
        <p:nvSpPr>
          <p:cNvPr id="17" name="Text 15"/>
          <p:cNvSpPr/>
          <p:nvPr/>
        </p:nvSpPr>
        <p:spPr>
          <a:xfrm>
            <a:off x="8280806" y="3319272"/>
            <a:ext cx="731520" cy="320040"/>
          </a:xfrm>
          <a:prstGeom prst="rect">
            <a:avLst/>
          </a:prstGeom>
          <a:noFill/>
          <a:ln/>
        </p:spPr>
        <p:txBody>
          <a:bodyPr wrap="square" lIns="0" tIns="0" rIns="0" bIns="0"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0.0203s</a:t>
            </a:r>
            <a:endParaRPr lang="en-US" sz="1100" dirty="0"/>
          </a:p>
        </p:txBody>
      </p:sp>
      <p:sp>
        <p:nvSpPr>
          <p:cNvPr id="18" name="Text 16"/>
          <p:cNvSpPr/>
          <p:nvPr/>
        </p:nvSpPr>
        <p:spPr>
          <a:xfrm>
            <a:off x="4937760" y="4114800"/>
            <a:ext cx="3749040" cy="530352"/>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Speedup: ~1.1x faster with index</a:t>
            </a:r>
            <a:endParaRPr lang="en-US" sz="1000" dirty="0"/>
          </a:p>
          <a:p>
            <a:pPr marL="0" indent="0">
              <a:buNone/>
            </a:pPr>
            <a:r>
              <a:rPr lang="en-US" sz="1000" i="1" dirty="0">
                <a:solidFill>
                  <a:srgbClr val="64748B"/>
                </a:solidFill>
                <a:latin typeface="Calibri" pitchFamily="34" charset="0"/>
                <a:ea typeface="Calibri" pitchFamily="34" charset="-122"/>
                <a:cs typeface="Calibri" pitchFamily="34" charset="-120"/>
              </a:rPr>
              <a:t>Note: Dataset fits in memory — larger data shows greater benefit</a:t>
            </a:r>
            <a:endParaRPr lang="en-US" sz="1000" dirty="0"/>
          </a:p>
        </p:txBody>
      </p:sp>
      <p:sp>
        <p:nvSpPr>
          <p:cNvPr id="19" name="Shape 17"/>
          <p:cNvSpPr/>
          <p:nvPr/>
        </p:nvSpPr>
        <p:spPr>
          <a:xfrm>
            <a:off x="0" y="4846320"/>
            <a:ext cx="9144000" cy="297180"/>
          </a:xfrm>
          <a:prstGeom prst="rect">
            <a:avLst/>
          </a:prstGeom>
          <a:solidFill>
            <a:srgbClr val="028090"/>
          </a:solidFill>
          <a:ln w="12700">
            <a:solidFill>
              <a:srgbClr val="028090"/>
            </a:solidFill>
            <a:prstDash val="solid"/>
          </a:ln>
        </p:spPr>
        <p:txBody>
          <a:bodyPr/>
          <a:lstStyle/>
          <a:p>
            <a:endParaRPr lang="en-US"/>
          </a:p>
        </p:txBody>
      </p:sp>
      <p:sp>
        <p:nvSpPr>
          <p:cNvPr id="20" name="Text 18"/>
          <p:cNvSpPr/>
          <p:nvPr/>
        </p:nvSpPr>
        <p:spPr>
          <a:xfrm>
            <a:off x="274320" y="4846320"/>
            <a:ext cx="8229600" cy="29718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Group 11  |  Diabetes Big Data Pipeline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2137"/>
          </a:solidFill>
          <a:ln w="12700">
            <a:solidFill>
              <a:srgbClr val="0D2137"/>
            </a:solidFill>
            <a:prstDash val="solid"/>
          </a:ln>
        </p:spPr>
        <p:txBody>
          <a:bodyPr/>
          <a:lstStyle/>
          <a:p>
            <a:endParaRPr lang="en-US"/>
          </a:p>
        </p:txBody>
      </p:sp>
      <p:sp>
        <p:nvSpPr>
          <p:cNvPr id="3" name="Text 1"/>
          <p:cNvSpPr/>
          <p:nvPr/>
        </p:nvSpPr>
        <p:spPr>
          <a:xfrm>
            <a:off x="365760" y="0"/>
            <a:ext cx="8229600" cy="82296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Key Findings &amp; Visualizations</a:t>
            </a:r>
            <a:endParaRPr lang="en-US" sz="2600" dirty="0"/>
          </a:p>
        </p:txBody>
      </p:sp>
      <p:graphicFrame>
        <p:nvGraphicFramePr>
          <p:cNvPr id="4" name="Chart 0"/>
          <p:cNvGraphicFramePr/>
          <p:nvPr/>
        </p:nvGraphicFramePr>
        <p:xfrm>
          <a:off x="274320" y="914400"/>
          <a:ext cx="4114800" cy="29260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nvGraphicFramePr>
        <p:xfrm>
          <a:off x="4754880" y="914400"/>
          <a:ext cx="4114800" cy="2926080"/>
        </p:xfrm>
        <a:graphic>
          <a:graphicData uri="http://schemas.openxmlformats.org/drawingml/2006/chart">
            <c:chart xmlns:c="http://schemas.openxmlformats.org/drawingml/2006/chart" xmlns:r="http://schemas.openxmlformats.org/officeDocument/2006/relationships" r:id="rId4"/>
          </a:graphicData>
        </a:graphic>
      </p:graphicFrame>
      <p:sp>
        <p:nvSpPr>
          <p:cNvPr id="6" name="Shape 2"/>
          <p:cNvSpPr/>
          <p:nvPr/>
        </p:nvSpPr>
        <p:spPr>
          <a:xfrm>
            <a:off x="274320" y="3931920"/>
            <a:ext cx="8595360" cy="713232"/>
          </a:xfrm>
          <a:prstGeom prst="rect">
            <a:avLst/>
          </a:prstGeom>
          <a:solidFill>
            <a:srgbClr val="028090">
              <a:alpha val="90000"/>
            </a:srgbClr>
          </a:solidFill>
          <a:ln w="12700">
            <a:solidFill>
              <a:srgbClr val="028090">
                <a:alpha val="90000"/>
              </a:srgbClr>
            </a:solidFill>
            <a:prstDash val="solid"/>
          </a:ln>
        </p:spPr>
        <p:txBody>
          <a:bodyPr/>
          <a:lstStyle/>
          <a:p>
            <a:endParaRPr lang="en-US"/>
          </a:p>
        </p:txBody>
      </p:sp>
      <p:sp>
        <p:nvSpPr>
          <p:cNvPr id="7" name="Text 3"/>
          <p:cNvSpPr/>
          <p:nvPr/>
        </p:nvSpPr>
        <p:spPr>
          <a:xfrm>
            <a:off x="411480" y="3931920"/>
            <a:ext cx="8321040" cy="713232"/>
          </a:xfrm>
          <a:prstGeom prst="rect">
            <a:avLst/>
          </a:prstGeom>
          <a:noFill/>
          <a:ln/>
        </p:spPr>
        <p:txBody>
          <a:bodyPr wrap="square" lIns="76200" tIns="76200" rIns="76200" bIns="7620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Key Insight: Diabetic patients are ~20 years older on average, have higher BMI (+5 pts), and nearly 50% higher blood glucose levels</a:t>
            </a:r>
            <a:endParaRPr lang="en-US" sz="1200" dirty="0"/>
          </a:p>
        </p:txBody>
      </p:sp>
      <p:sp>
        <p:nvSpPr>
          <p:cNvPr id="8" name="Shape 4"/>
          <p:cNvSpPr/>
          <p:nvPr/>
        </p:nvSpPr>
        <p:spPr>
          <a:xfrm>
            <a:off x="0" y="4846320"/>
            <a:ext cx="9144000" cy="297180"/>
          </a:xfrm>
          <a:prstGeom prst="rect">
            <a:avLst/>
          </a:prstGeom>
          <a:solidFill>
            <a:srgbClr val="028090"/>
          </a:solidFill>
          <a:ln w="12700">
            <a:solidFill>
              <a:srgbClr val="028090"/>
            </a:solidFill>
            <a:prstDash val="solid"/>
          </a:ln>
        </p:spPr>
        <p:txBody>
          <a:bodyPr/>
          <a:lstStyle/>
          <a:p>
            <a:endParaRPr lang="en-US"/>
          </a:p>
        </p:txBody>
      </p:sp>
      <p:sp>
        <p:nvSpPr>
          <p:cNvPr id="9" name="Text 5"/>
          <p:cNvSpPr/>
          <p:nvPr/>
        </p:nvSpPr>
        <p:spPr>
          <a:xfrm>
            <a:off x="274320" y="4846320"/>
            <a:ext cx="8229600" cy="29718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Group 11  |  Diabetes Big Data Pipeline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914400" y="-914400"/>
            <a:ext cx="4572000" cy="4572000"/>
          </a:xfrm>
          <a:prstGeom prst="ellipse">
            <a:avLst/>
          </a:prstGeom>
          <a:solidFill>
            <a:srgbClr val="028090">
              <a:alpha val="20000"/>
            </a:srgbClr>
          </a:solidFill>
          <a:ln w="12700">
            <a:solidFill>
              <a:srgbClr val="028090">
                <a:alpha val="20000"/>
              </a:srgbClr>
            </a:solidFill>
            <a:prstDash val="solid"/>
          </a:ln>
        </p:spPr>
        <p:txBody>
          <a:bodyPr/>
          <a:lstStyle/>
          <a:p>
            <a:endParaRPr lang="en-US"/>
          </a:p>
        </p:txBody>
      </p:sp>
      <p:sp>
        <p:nvSpPr>
          <p:cNvPr id="3" name="Shape 1"/>
          <p:cNvSpPr/>
          <p:nvPr/>
        </p:nvSpPr>
        <p:spPr>
          <a:xfrm>
            <a:off x="6858000" y="2743200"/>
            <a:ext cx="3657600" cy="3657600"/>
          </a:xfrm>
          <a:prstGeom prst="ellipse">
            <a:avLst/>
          </a:prstGeom>
          <a:solidFill>
            <a:srgbClr val="02C39A">
              <a:alpha val="15000"/>
            </a:srgbClr>
          </a:solidFill>
          <a:ln w="12700">
            <a:solidFill>
              <a:srgbClr val="02C39A">
                <a:alpha val="15000"/>
              </a:srgbClr>
            </a:solidFill>
            <a:prstDash val="solid"/>
          </a:ln>
        </p:spPr>
        <p:txBody>
          <a:bodyPr/>
          <a:lstStyle/>
          <a:p>
            <a:endParaRPr lang="en-US"/>
          </a:p>
        </p:txBody>
      </p:sp>
      <p:sp>
        <p:nvSpPr>
          <p:cNvPr id="4" name="Text 2"/>
          <p:cNvSpPr/>
          <p:nvPr/>
        </p:nvSpPr>
        <p:spPr>
          <a:xfrm>
            <a:off x="457200" y="457200"/>
            <a:ext cx="8229600" cy="73152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Conclusion</a:t>
            </a:r>
            <a:endParaRPr lang="en-US" sz="3400" dirty="0"/>
          </a:p>
        </p:txBody>
      </p:sp>
      <p:sp>
        <p:nvSpPr>
          <p:cNvPr id="5" name="Shape 3"/>
          <p:cNvSpPr/>
          <p:nvPr/>
        </p:nvSpPr>
        <p:spPr>
          <a:xfrm>
            <a:off x="457200" y="1234440"/>
            <a:ext cx="2286000" cy="45720"/>
          </a:xfrm>
          <a:prstGeom prst="rect">
            <a:avLst/>
          </a:prstGeom>
          <a:solidFill>
            <a:srgbClr val="02C39A"/>
          </a:solidFill>
          <a:ln w="12700">
            <a:solidFill>
              <a:srgbClr val="02C39A"/>
            </a:solidFill>
            <a:prstDash val="solid"/>
          </a:ln>
        </p:spPr>
        <p:txBody>
          <a:bodyPr/>
          <a:lstStyle/>
          <a:p>
            <a:endParaRPr lang="en-US"/>
          </a:p>
        </p:txBody>
      </p:sp>
      <p:sp>
        <p:nvSpPr>
          <p:cNvPr id="6" name="Shape 4"/>
          <p:cNvSpPr/>
          <p:nvPr/>
        </p:nvSpPr>
        <p:spPr>
          <a:xfrm>
            <a:off x="457200" y="1417320"/>
            <a:ext cx="8046720" cy="530352"/>
          </a:xfrm>
          <a:prstGeom prst="rect">
            <a:avLst/>
          </a:prstGeom>
          <a:solidFill>
            <a:srgbClr val="FFFFFF">
              <a:alpha val="8000"/>
            </a:srgbClr>
          </a:solidFill>
          <a:ln w="12700">
            <a:solidFill>
              <a:srgbClr val="00A896">
                <a:alpha val="40000"/>
              </a:srgbClr>
            </a:solidFill>
            <a:prstDash val="solid"/>
          </a:ln>
        </p:spPr>
        <p:txBody>
          <a:bodyPr/>
          <a:lstStyle/>
          <a:p>
            <a:endParaRPr lang="en-US"/>
          </a:p>
        </p:txBody>
      </p:sp>
      <p:sp>
        <p:nvSpPr>
          <p:cNvPr id="7" name="Text 5"/>
          <p:cNvSpPr/>
          <p:nvPr/>
        </p:nvSpPr>
        <p:spPr>
          <a:xfrm>
            <a:off x="502920" y="1417320"/>
            <a:ext cx="502920" cy="530352"/>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8" name="Text 6"/>
          <p:cNvSpPr/>
          <p:nvPr/>
        </p:nvSpPr>
        <p:spPr>
          <a:xfrm>
            <a:off x="1051560" y="1417320"/>
            <a:ext cx="7315200" cy="530352"/>
          </a:xfrm>
          <a:prstGeom prst="rect">
            <a:avLst/>
          </a:prstGeom>
          <a:noFill/>
          <a:ln/>
        </p:spPr>
        <p:txBody>
          <a:bodyPr wrap="square" lIns="0" tIns="0" rIns="0" bIns="0" rtlCol="0" anchor="ctr"/>
          <a:lstStyle/>
          <a:p>
            <a:pPr marL="0" indent="0">
              <a:buNone/>
            </a:pPr>
            <a:r>
              <a:rPr lang="en-US" sz="1200" dirty="0">
                <a:solidFill>
                  <a:srgbClr val="F0F9FA"/>
                </a:solidFill>
                <a:latin typeface="Calibri" pitchFamily="34" charset="0"/>
                <a:ea typeface="Calibri" pitchFamily="34" charset="-122"/>
                <a:cs typeface="Calibri" pitchFamily="34" charset="-120"/>
              </a:rPr>
              <a:t>Successfully built end-to-end Big Data pipeline: CSV → MongoDB → Spark → Parquet</a:t>
            </a:r>
            <a:endParaRPr lang="en-US" sz="1200" dirty="0"/>
          </a:p>
        </p:txBody>
      </p:sp>
      <p:sp>
        <p:nvSpPr>
          <p:cNvPr id="9" name="Shape 7"/>
          <p:cNvSpPr/>
          <p:nvPr/>
        </p:nvSpPr>
        <p:spPr>
          <a:xfrm>
            <a:off x="457200" y="2075688"/>
            <a:ext cx="8046720" cy="530352"/>
          </a:xfrm>
          <a:prstGeom prst="rect">
            <a:avLst/>
          </a:prstGeom>
          <a:solidFill>
            <a:srgbClr val="FFFFFF">
              <a:alpha val="8000"/>
            </a:srgbClr>
          </a:solidFill>
          <a:ln w="12700">
            <a:solidFill>
              <a:srgbClr val="00A896">
                <a:alpha val="40000"/>
              </a:srgbClr>
            </a:solidFill>
            <a:prstDash val="solid"/>
          </a:ln>
        </p:spPr>
        <p:txBody>
          <a:bodyPr/>
          <a:lstStyle/>
          <a:p>
            <a:endParaRPr lang="en-US"/>
          </a:p>
        </p:txBody>
      </p:sp>
      <p:sp>
        <p:nvSpPr>
          <p:cNvPr id="10" name="Text 8"/>
          <p:cNvSpPr/>
          <p:nvPr/>
        </p:nvSpPr>
        <p:spPr>
          <a:xfrm>
            <a:off x="502920" y="2075688"/>
            <a:ext cx="502920" cy="530352"/>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11" name="Text 9"/>
          <p:cNvSpPr/>
          <p:nvPr/>
        </p:nvSpPr>
        <p:spPr>
          <a:xfrm>
            <a:off x="1051560" y="2075688"/>
            <a:ext cx="7315200" cy="530352"/>
          </a:xfrm>
          <a:prstGeom prst="rect">
            <a:avLst/>
          </a:prstGeom>
          <a:noFill/>
          <a:ln/>
        </p:spPr>
        <p:txBody>
          <a:bodyPr wrap="square" lIns="0" tIns="0" rIns="0" bIns="0" rtlCol="0" anchor="ctr"/>
          <a:lstStyle/>
          <a:p>
            <a:pPr marL="0" indent="0">
              <a:buNone/>
            </a:pPr>
            <a:r>
              <a:rPr lang="en-US" sz="1200" dirty="0">
                <a:solidFill>
                  <a:srgbClr val="F0F9FA"/>
                </a:solidFill>
                <a:latin typeface="Calibri" pitchFamily="34" charset="0"/>
                <a:ea typeface="Calibri" pitchFamily="34" charset="-122"/>
                <a:cs typeface="Calibri" pitchFamily="34" charset="-120"/>
              </a:rPr>
              <a:t>Analyzed 100K records using Spark SQL — identified key diabetes risk factors</a:t>
            </a:r>
            <a:endParaRPr lang="en-US" sz="1200" dirty="0"/>
          </a:p>
        </p:txBody>
      </p:sp>
      <p:sp>
        <p:nvSpPr>
          <p:cNvPr id="12" name="Shape 10"/>
          <p:cNvSpPr/>
          <p:nvPr/>
        </p:nvSpPr>
        <p:spPr>
          <a:xfrm>
            <a:off x="457200" y="2734056"/>
            <a:ext cx="8046720" cy="530352"/>
          </a:xfrm>
          <a:prstGeom prst="rect">
            <a:avLst/>
          </a:prstGeom>
          <a:solidFill>
            <a:srgbClr val="FFFFFF">
              <a:alpha val="8000"/>
            </a:srgbClr>
          </a:solidFill>
          <a:ln w="12700">
            <a:solidFill>
              <a:srgbClr val="00A896">
                <a:alpha val="40000"/>
              </a:srgbClr>
            </a:solidFill>
            <a:prstDash val="solid"/>
          </a:ln>
        </p:spPr>
        <p:txBody>
          <a:bodyPr/>
          <a:lstStyle/>
          <a:p>
            <a:endParaRPr lang="en-US"/>
          </a:p>
        </p:txBody>
      </p:sp>
      <p:sp>
        <p:nvSpPr>
          <p:cNvPr id="13" name="Text 11"/>
          <p:cNvSpPr/>
          <p:nvPr/>
        </p:nvSpPr>
        <p:spPr>
          <a:xfrm>
            <a:off x="502920" y="2734056"/>
            <a:ext cx="502920" cy="530352"/>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14" name="Text 12"/>
          <p:cNvSpPr/>
          <p:nvPr/>
        </p:nvSpPr>
        <p:spPr>
          <a:xfrm>
            <a:off x="1051560" y="2734056"/>
            <a:ext cx="7315200" cy="530352"/>
          </a:xfrm>
          <a:prstGeom prst="rect">
            <a:avLst/>
          </a:prstGeom>
          <a:noFill/>
          <a:ln/>
        </p:spPr>
        <p:txBody>
          <a:bodyPr wrap="square" lIns="0" tIns="0" rIns="0" bIns="0" rtlCol="0" anchor="ctr"/>
          <a:lstStyle/>
          <a:p>
            <a:pPr marL="0" indent="0">
              <a:buNone/>
            </a:pPr>
            <a:r>
              <a:rPr lang="en-US" sz="1200" dirty="0">
                <a:solidFill>
                  <a:srgbClr val="F0F9FA"/>
                </a:solidFill>
                <a:latin typeface="Calibri" pitchFamily="34" charset="0"/>
                <a:ea typeface="Calibri" pitchFamily="34" charset="-122"/>
                <a:cs typeface="Calibri" pitchFamily="34" charset="-120"/>
              </a:rPr>
              <a:t>Window functions revealed patients with glucose ≥ 300 are all diabetic</a:t>
            </a:r>
            <a:endParaRPr lang="en-US" sz="1200" dirty="0"/>
          </a:p>
        </p:txBody>
      </p:sp>
      <p:sp>
        <p:nvSpPr>
          <p:cNvPr id="15" name="Shape 13"/>
          <p:cNvSpPr/>
          <p:nvPr/>
        </p:nvSpPr>
        <p:spPr>
          <a:xfrm>
            <a:off x="457200" y="3392424"/>
            <a:ext cx="8046720" cy="530352"/>
          </a:xfrm>
          <a:prstGeom prst="rect">
            <a:avLst/>
          </a:prstGeom>
          <a:solidFill>
            <a:srgbClr val="FFFFFF">
              <a:alpha val="8000"/>
            </a:srgbClr>
          </a:solidFill>
          <a:ln w="12700">
            <a:solidFill>
              <a:srgbClr val="00A896">
                <a:alpha val="40000"/>
              </a:srgbClr>
            </a:solidFill>
            <a:prstDash val="solid"/>
          </a:ln>
        </p:spPr>
        <p:txBody>
          <a:bodyPr/>
          <a:lstStyle/>
          <a:p>
            <a:endParaRPr lang="en-US"/>
          </a:p>
        </p:txBody>
      </p:sp>
      <p:sp>
        <p:nvSpPr>
          <p:cNvPr id="16" name="Text 14"/>
          <p:cNvSpPr/>
          <p:nvPr/>
        </p:nvSpPr>
        <p:spPr>
          <a:xfrm>
            <a:off x="502920" y="3392424"/>
            <a:ext cx="502920" cy="530352"/>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17" name="Text 15"/>
          <p:cNvSpPr/>
          <p:nvPr/>
        </p:nvSpPr>
        <p:spPr>
          <a:xfrm>
            <a:off x="1051560" y="3392424"/>
            <a:ext cx="7315200" cy="530352"/>
          </a:xfrm>
          <a:prstGeom prst="rect">
            <a:avLst/>
          </a:prstGeom>
          <a:noFill/>
          <a:ln/>
        </p:spPr>
        <p:txBody>
          <a:bodyPr wrap="square" lIns="0" tIns="0" rIns="0" bIns="0" rtlCol="0" anchor="ctr"/>
          <a:lstStyle/>
          <a:p>
            <a:pPr marL="0" indent="0">
              <a:buNone/>
            </a:pPr>
            <a:r>
              <a:rPr lang="en-US" sz="1200" dirty="0">
                <a:solidFill>
                  <a:srgbClr val="F0F9FA"/>
                </a:solidFill>
                <a:latin typeface="Calibri" pitchFamily="34" charset="0"/>
                <a:ea typeface="Calibri" pitchFamily="34" charset="-122"/>
                <a:cs typeface="Calibri" pitchFamily="34" charset="-120"/>
              </a:rPr>
              <a:t>Parquet storage + DataFrame caching improved processing performance</a:t>
            </a:r>
            <a:endParaRPr lang="en-US" sz="1200" dirty="0"/>
          </a:p>
        </p:txBody>
      </p:sp>
      <p:sp>
        <p:nvSpPr>
          <p:cNvPr id="18" name="Shape 16"/>
          <p:cNvSpPr/>
          <p:nvPr/>
        </p:nvSpPr>
        <p:spPr>
          <a:xfrm>
            <a:off x="457200" y="4050792"/>
            <a:ext cx="8046720" cy="530352"/>
          </a:xfrm>
          <a:prstGeom prst="rect">
            <a:avLst/>
          </a:prstGeom>
          <a:solidFill>
            <a:srgbClr val="FFFFFF">
              <a:alpha val="8000"/>
            </a:srgbClr>
          </a:solidFill>
          <a:ln w="12700">
            <a:solidFill>
              <a:srgbClr val="00A896">
                <a:alpha val="40000"/>
              </a:srgbClr>
            </a:solidFill>
            <a:prstDash val="solid"/>
          </a:ln>
        </p:spPr>
        <p:txBody>
          <a:bodyPr/>
          <a:lstStyle/>
          <a:p>
            <a:endParaRPr lang="en-US"/>
          </a:p>
        </p:txBody>
      </p:sp>
      <p:sp>
        <p:nvSpPr>
          <p:cNvPr id="19" name="Text 17"/>
          <p:cNvSpPr/>
          <p:nvPr/>
        </p:nvSpPr>
        <p:spPr>
          <a:xfrm>
            <a:off x="502920" y="4050792"/>
            <a:ext cx="502920" cy="530352"/>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20" name="Text 18"/>
          <p:cNvSpPr/>
          <p:nvPr/>
        </p:nvSpPr>
        <p:spPr>
          <a:xfrm>
            <a:off x="1051560" y="4050792"/>
            <a:ext cx="7315200" cy="530352"/>
          </a:xfrm>
          <a:prstGeom prst="rect">
            <a:avLst/>
          </a:prstGeom>
          <a:noFill/>
          <a:ln/>
        </p:spPr>
        <p:txBody>
          <a:bodyPr wrap="square" lIns="0" tIns="0" rIns="0" bIns="0" rtlCol="0" anchor="ctr"/>
          <a:lstStyle/>
          <a:p>
            <a:pPr marL="0" indent="0">
              <a:buNone/>
            </a:pPr>
            <a:r>
              <a:rPr lang="en-US" sz="1200" dirty="0">
                <a:solidFill>
                  <a:srgbClr val="F0F9FA"/>
                </a:solidFill>
                <a:latin typeface="Calibri" pitchFamily="34" charset="0"/>
                <a:ea typeface="Calibri" pitchFamily="34" charset="-122"/>
                <a:cs typeface="Calibri" pitchFamily="34" charset="-120"/>
              </a:rPr>
              <a:t>Older age, higher BMI, and elevated blood glucose are strongest diabetes predictors</a:t>
            </a:r>
            <a:endParaRPr lang="en-US" sz="1200" dirty="0"/>
          </a:p>
        </p:txBody>
      </p:sp>
      <p:sp>
        <p:nvSpPr>
          <p:cNvPr id="21" name="Text 19"/>
          <p:cNvSpPr/>
          <p:nvPr/>
        </p:nvSpPr>
        <p:spPr>
          <a:xfrm>
            <a:off x="0" y="4846320"/>
            <a:ext cx="9144000" cy="297180"/>
          </a:xfrm>
          <a:prstGeom prst="rect">
            <a:avLst/>
          </a:prstGeom>
          <a:noFill/>
          <a:ln/>
        </p:spPr>
        <p:txBody>
          <a:bodyPr wrap="square" lIns="0" tIns="0" rIns="0" bIns="0" rtlCol="0" anchor="ctr"/>
          <a:lstStyle/>
          <a:p>
            <a:pPr marL="0" indent="0" algn="ctr">
              <a:buNone/>
            </a:pPr>
            <a:r>
              <a:rPr lang="en-US" sz="1100" b="1" dirty="0">
                <a:solidFill>
                  <a:srgbClr val="02C39A"/>
                </a:solidFill>
                <a:latin typeface="Calibri" pitchFamily="34" charset="0"/>
                <a:ea typeface="Calibri" pitchFamily="34" charset="-122"/>
                <a:cs typeface="Calibri" pitchFamily="34" charset="-120"/>
              </a:rPr>
              <a:t>Thank You  |  Group 11: Tuo Yan • Prayusha Poudel • Dan Le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2137"/>
        </a:solidFill>
        <a:effectLst/>
      </p:bgPr>
    </p:bg>
    <p:spTree>
      <p:nvGrpSpPr>
        <p:cNvPr id="1" name="">
          <a:extLst>
            <a:ext uri="{FF2B5EF4-FFF2-40B4-BE49-F238E27FC236}">
              <a16:creationId xmlns:a16="http://schemas.microsoft.com/office/drawing/2014/main" id="{9660A9D3-F425-4097-F971-4149C2BAF6E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12A67FE-E111-72AE-200C-8105E04D4EF9}"/>
              </a:ext>
            </a:extLst>
          </p:cNvPr>
          <p:cNvSpPr/>
          <p:nvPr/>
        </p:nvSpPr>
        <p:spPr>
          <a:xfrm>
            <a:off x="-914400" y="-914400"/>
            <a:ext cx="4572000" cy="4572000"/>
          </a:xfrm>
          <a:prstGeom prst="ellipse">
            <a:avLst/>
          </a:prstGeom>
          <a:solidFill>
            <a:srgbClr val="028090">
              <a:alpha val="20000"/>
            </a:srgbClr>
          </a:solidFill>
          <a:ln w="12700">
            <a:solidFill>
              <a:srgbClr val="028090">
                <a:alpha val="20000"/>
              </a:srgbClr>
            </a:solidFill>
            <a:prstDash val="solid"/>
          </a:ln>
        </p:spPr>
        <p:txBody>
          <a:bodyPr/>
          <a:lstStyle/>
          <a:p>
            <a:endParaRPr lang="en-US" dirty="0"/>
          </a:p>
        </p:txBody>
      </p:sp>
      <p:sp>
        <p:nvSpPr>
          <p:cNvPr id="3" name="Shape 1">
            <a:extLst>
              <a:ext uri="{FF2B5EF4-FFF2-40B4-BE49-F238E27FC236}">
                <a16:creationId xmlns:a16="http://schemas.microsoft.com/office/drawing/2014/main" id="{136180D9-9216-DB41-1859-BAC6E961C620}"/>
              </a:ext>
            </a:extLst>
          </p:cNvPr>
          <p:cNvSpPr/>
          <p:nvPr/>
        </p:nvSpPr>
        <p:spPr>
          <a:xfrm>
            <a:off x="6858000" y="2743200"/>
            <a:ext cx="3657600" cy="3657600"/>
          </a:xfrm>
          <a:prstGeom prst="ellipse">
            <a:avLst/>
          </a:prstGeom>
          <a:solidFill>
            <a:srgbClr val="02C39A">
              <a:alpha val="15000"/>
            </a:srgbClr>
          </a:solidFill>
          <a:ln w="12700">
            <a:solidFill>
              <a:srgbClr val="02C39A">
                <a:alpha val="15000"/>
              </a:srgbClr>
            </a:solidFill>
            <a:prstDash val="solid"/>
          </a:ln>
        </p:spPr>
        <p:txBody>
          <a:bodyPr/>
          <a:lstStyle/>
          <a:p>
            <a:endParaRPr lang="en-US"/>
          </a:p>
        </p:txBody>
      </p:sp>
      <p:sp>
        <p:nvSpPr>
          <p:cNvPr id="4" name="Text 2">
            <a:extLst>
              <a:ext uri="{FF2B5EF4-FFF2-40B4-BE49-F238E27FC236}">
                <a16:creationId xmlns:a16="http://schemas.microsoft.com/office/drawing/2014/main" id="{57894806-B336-316A-44DF-B496EAFBCB9C}"/>
              </a:ext>
            </a:extLst>
          </p:cNvPr>
          <p:cNvSpPr/>
          <p:nvPr/>
        </p:nvSpPr>
        <p:spPr>
          <a:xfrm>
            <a:off x="2831594" y="2034540"/>
            <a:ext cx="5309616" cy="731520"/>
          </a:xfrm>
          <a:prstGeom prst="rect">
            <a:avLst/>
          </a:prstGeom>
          <a:noFill/>
          <a:ln/>
        </p:spPr>
        <p:txBody>
          <a:bodyPr wrap="square" lIns="0" tIns="0" rIns="0" bIns="0" rtlCol="0" anchor="ctr"/>
          <a:lstStyle/>
          <a:p>
            <a:pPr algn="ctr"/>
            <a:r>
              <a:rPr lang="en-US" sz="6000" b="1" dirty="0">
                <a:solidFill>
                  <a:srgbClr val="FFFFFF"/>
                </a:solidFill>
                <a:latin typeface="Calibri" pitchFamily="34" charset="0"/>
                <a:ea typeface="Calibri" pitchFamily="34" charset="-122"/>
                <a:cs typeface="Calibri" pitchFamily="34" charset="-120"/>
              </a:rPr>
              <a:t>Thank you!</a:t>
            </a:r>
            <a:endParaRPr lang="en-US" sz="6000" dirty="0"/>
          </a:p>
        </p:txBody>
      </p:sp>
      <p:sp>
        <p:nvSpPr>
          <p:cNvPr id="5" name="Shape 3">
            <a:extLst>
              <a:ext uri="{FF2B5EF4-FFF2-40B4-BE49-F238E27FC236}">
                <a16:creationId xmlns:a16="http://schemas.microsoft.com/office/drawing/2014/main" id="{50A401AB-C514-55D9-971A-8B1482AD46C1}"/>
              </a:ext>
            </a:extLst>
          </p:cNvPr>
          <p:cNvSpPr/>
          <p:nvPr/>
        </p:nvSpPr>
        <p:spPr>
          <a:xfrm>
            <a:off x="3657600" y="2921508"/>
            <a:ext cx="3486912" cy="45719"/>
          </a:xfrm>
          <a:prstGeom prst="rect">
            <a:avLst/>
          </a:prstGeom>
          <a:solidFill>
            <a:srgbClr val="02C39A"/>
          </a:solidFill>
          <a:ln w="12700">
            <a:solidFill>
              <a:srgbClr val="02C39A"/>
            </a:solidFill>
            <a:prstDash val="solid"/>
          </a:ln>
        </p:spPr>
        <p:txBody>
          <a:bodyPr/>
          <a:lstStyle/>
          <a:p>
            <a:endParaRPr lang="en-US"/>
          </a:p>
        </p:txBody>
      </p:sp>
      <p:sp>
        <p:nvSpPr>
          <p:cNvPr id="21" name="Text 19">
            <a:extLst>
              <a:ext uri="{FF2B5EF4-FFF2-40B4-BE49-F238E27FC236}">
                <a16:creationId xmlns:a16="http://schemas.microsoft.com/office/drawing/2014/main" id="{E67EC636-CF78-1DEC-EBEC-A541F30535D2}"/>
              </a:ext>
            </a:extLst>
          </p:cNvPr>
          <p:cNvSpPr/>
          <p:nvPr/>
        </p:nvSpPr>
        <p:spPr>
          <a:xfrm>
            <a:off x="0" y="4846320"/>
            <a:ext cx="9144000" cy="297180"/>
          </a:xfrm>
          <a:prstGeom prst="rect">
            <a:avLst/>
          </a:prstGeom>
          <a:noFill/>
          <a:ln/>
        </p:spPr>
        <p:txBody>
          <a:bodyPr wrap="square" lIns="0" tIns="0" rIns="0" bIns="0" rtlCol="0" anchor="ctr"/>
          <a:lstStyle/>
          <a:p>
            <a:pPr marL="0" indent="0" algn="ctr">
              <a:buNone/>
            </a:pPr>
            <a:r>
              <a:rPr lang="en-US" sz="1100" b="1" dirty="0">
                <a:solidFill>
                  <a:srgbClr val="02C39A"/>
                </a:solidFill>
                <a:latin typeface="Calibri" pitchFamily="34" charset="0"/>
                <a:ea typeface="Calibri" pitchFamily="34" charset="-122"/>
                <a:cs typeface="Calibri" pitchFamily="34" charset="-120"/>
              </a:rPr>
              <a:t>Thank You  |  Group 11: Tuo Yan • Prayusha Poudel • Dan Le</a:t>
            </a:r>
            <a:endParaRPr lang="en-US" sz="1100" dirty="0"/>
          </a:p>
        </p:txBody>
      </p:sp>
    </p:spTree>
    <p:extLst>
      <p:ext uri="{BB962C8B-B14F-4D97-AF65-F5344CB8AC3E}">
        <p14:creationId xmlns:p14="http://schemas.microsoft.com/office/powerpoint/2010/main" val="30956326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Asiakirja" ma:contentTypeID="0x010100410C7EAD55E1774DA277A25C82296A85" ma:contentTypeVersion="10" ma:contentTypeDescription="Luo uusi asiakirja." ma:contentTypeScope="" ma:versionID="17e7bfbafe32c9912755589352fe65ca">
  <xsd:schema xmlns:xsd="http://www.w3.org/2001/XMLSchema" xmlns:xs="http://www.w3.org/2001/XMLSchema" xmlns:p="http://schemas.microsoft.com/office/2006/metadata/properties" xmlns:ns2="6bafdd4f-5b1e-4e28-a32f-e6e4ea943cc1" xmlns:ns3="e9ab617b-1e66-4eca-8f13-9156c6039dbf" targetNamespace="http://schemas.microsoft.com/office/2006/metadata/properties" ma:root="true" ma:fieldsID="283e74167ac0a2f85d28d71b7d6f2b42" ns2:_="" ns3:_="">
    <xsd:import namespace="6bafdd4f-5b1e-4e28-a32f-e6e4ea943cc1"/>
    <xsd:import namespace="e9ab617b-1e66-4eca-8f13-9156c6039db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afdd4f-5b1e-4e28-a32f-e6e4ea943cc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Kuvien tunnisteet" ma:readOnly="false" ma:fieldId="{5cf76f15-5ced-4ddc-b409-7134ff3c332f}" ma:taxonomyMulti="true" ma:sspId="e1c13e40-b2b1-49b8-8663-ef592bdcc8ca"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9ab617b-1e66-4eca-8f13-9156c6039dbf"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9e7170f-77e9-4b87-9823-6e46fae17d8f}" ma:internalName="TaxCatchAll" ma:showField="CatchAllData" ma:web="e9ab617b-1e66-4eca-8f13-9156c6039db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Sisältölaji"/>
        <xsd:element ref="dc:title" minOccurs="0" maxOccurs="1" ma:index="4" ma:displayName="Otsikk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bafdd4f-5b1e-4e28-a32f-e6e4ea943cc1">
      <Terms xmlns="http://schemas.microsoft.com/office/infopath/2007/PartnerControls"/>
    </lcf76f155ced4ddcb4097134ff3c332f>
    <TaxCatchAll xmlns="e9ab617b-1e66-4eca-8f13-9156c6039dbf" xsi:nil="true"/>
  </documentManagement>
</p:properties>
</file>

<file path=customXml/itemProps1.xml><?xml version="1.0" encoding="utf-8"?>
<ds:datastoreItem xmlns:ds="http://schemas.openxmlformats.org/officeDocument/2006/customXml" ds:itemID="{3E114878-3B2F-499A-B2AC-0226FA06E0C2}"/>
</file>

<file path=customXml/itemProps2.xml><?xml version="1.0" encoding="utf-8"?>
<ds:datastoreItem xmlns:ds="http://schemas.openxmlformats.org/officeDocument/2006/customXml" ds:itemID="{34C95021-0A7E-4395-A916-D7D9FF43B78E}"/>
</file>

<file path=customXml/itemProps3.xml><?xml version="1.0" encoding="utf-8"?>
<ds:datastoreItem xmlns:ds="http://schemas.openxmlformats.org/officeDocument/2006/customXml" ds:itemID="{FA23AFC5-B5B2-4407-A770-254D1B3F4513}"/>
</file>

<file path=docProps/app.xml><?xml version="1.0" encoding="utf-8"?>
<Properties xmlns="http://schemas.openxmlformats.org/officeDocument/2006/extended-properties" xmlns:vt="http://schemas.openxmlformats.org/officeDocument/2006/docPropsVTypes">
  <TotalTime>19</TotalTime>
  <Words>1807</Words>
  <Application>Microsoft Office PowerPoint</Application>
  <PresentationFormat>On-screen Show (16:9)</PresentationFormat>
  <Paragraphs>157</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Diabetes Big Data Pipeline</dc:title>
  <dc:subject>PptxGenJS Presentation</dc:subject>
  <dc:creator>PptxGenJS</dc:creator>
  <cp:lastModifiedBy>Tuo Yan</cp:lastModifiedBy>
  <cp:revision>3</cp:revision>
  <dcterms:created xsi:type="dcterms:W3CDTF">2026-04-06T13:37:23Z</dcterms:created>
  <dcterms:modified xsi:type="dcterms:W3CDTF">2026-04-06T14:02:31Z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0x010100410C7EAD55E1774DA277A25C82296A85</vt:lpwstr>
  </property>
</Properties>
</file>